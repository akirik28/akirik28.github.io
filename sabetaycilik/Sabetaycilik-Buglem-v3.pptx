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Merhaba. Konum Sabetaycılık. 17. yüzyılda İzmir'de doğan Sabetay Sevi'nin mesih olduğunu iddia etmesiyle başlayan ve bugüne kadar çok tartışılan bir dinî hareket. Bu sunumda hareketin nasıl ortaya çıktığını, nasıl bir topluluğa dönüştüğünü ve hakkındaki önyargılara nasıl bakmamız gerektiğini anlatacağım.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Önce birkaç kavram. Mesih, Yahudi inancında dünyaya kurtuluş getirecek beklenen kişi. Kabala, Yahudilikteki mistik, yani tasavvufa benzeyen düşünce geleneği. Sabetaycılık da Sabetay Sevi'yi mesih kabul eden ve onun 1666'da Müslüman olmasından sonra da varlığını sürdüren hareketin adı. Ders kitabımız bu tür akımları yeni dinî hareketler başlığında ele alıyor.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Sabetay Sevi 1626'da İzmir'de doğdu ve Kabala eğitimi aldı. 1665'te Gazzeli Natan onun mesih olduğunu ilan edince Osmanlı'dan Avrupa'ya kadar birçok Yahudi topluluğunda büyük bir heyecan oldu. 1666'da İstanbul'a geldi, tutuklandı ve Gelibolu'da hapsedildi. Aynı yıl Edirne'de padişahın huzuruna çıkarıldı ve Müslüman oldu. Sonra Ülgün'e, bugünkü Karadağ'a sürgün edildi ve 1676'da orada öldü.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1666 Eylül'ünde Sabetay Sevi Edirne'de Sultan IV. Mehmed'in huzuruna çıkarıldı. Ya mesihliğini kanıtlaması ya da Müslüman olması istendi; o da Müslüman oldu ve Aziz Mehmed Efendi adını aldı, sarayda görev ve maaş verildi. Bu olay takipçileri için büyük bir şoktu. Çoğu ondan uzaklaştı, ama bir kısmı bunu mesihin gizli bir görevi olarak yorumladı ve onunla birlikte Müslüman oldu.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Sınıfa soruyorum. Beklenen fikirler: inanç kolay bırakılmıyor, insanlar yaşadıkları hayal kırıklığını anlamlı kılacak bir açıklama arıyor; Sabetaycılar da ihtidayı gizli bir görev gibi yorumladı.</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Sabetay'a uyan aileler özellikle Selanik'te toplandılar. Dışarıdan Müslüman olarak yaşadılar, ama kendi aralarında bazı farklı inanç ve ritüelleri gizlice sürdürdüler. Sabetay'a atfedilen on sekiz emir onların temel kurallarıydı; dışarıdan biriyle evlenmemek bu kuralların arasındaydı. Zamanla topluluk üç ana kola ayrıldı: Yakubîler, Karakaşlar ve Kapancılar.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yüzyılda Selanik'teki Sabetaycı aileler ticarette ve eğitimde öne çıktı; Terakki ve Feyziye gibi modern okullar kurdular. 1923'teki Türk-Yunan nüfus mübadelesinde Müslüman sayıldıkları için Türkiye'ye geldiler, çoğu İstanbul'a yerleşti; okullarından bazıları da İstanbul'a taşındı. Zamanla topluluğun büyük kısmı kendi geleneklerini bırakıp toplumla kaynaştı.</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Sınıfın fikrini alıyorum. Yönlendirme: gizlilik topluluğu korudu ama aynı zamanda dışarıdan şüphe ve önyargı da doğurdu; bir sonraki sahnede bu önyargılara geçiyorum.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Sabetaycılık konusu Türkiye'de çok sayıda komplo teorisine konu oluyor; birçok olayın arkasında gizli bir Sabetaycı güç olduğu iddia ediliyor. Tarihçiler bu iddiaların çoğunun belgeye dayanmadığını, bir grubu toplu olarak suçlamanın önyargı olduğunu vurguluyor. Ders kitabımız da her türlü hurafeden korunmayı ve tüm inançlara saygıyı hedefliyor. Bu yüzden konuya kanıtla ve dikkatle bakmak gerekiyor.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soru. Cevapları aldıktan sonra kontrol listesini özetliyorum: kaynağı kim, kanıtı var mı, başka kaynaklar doğruluyor mu, bir grubu toptan suçluyor mu?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Toparlarsam: Sabetaycılık 17. yüzyılda bir mesih bekleyişi olarak doğdu, 1666'daki ihtidadan sonra gizli kimliğini koruyan bir topluluğa dönüştü ve zamanla büyük ölçüde toplumla kaynaştı. Bu konu bize iki şey öğretiyor: dinî hareketlerin tarihsel şartlar içinde nasıl değiştiğini ve böyle hassas konulara önyargıyla değil kanıtla bakmamız gerektiğini. Teşekkür ederim.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Kullandığım kaynaklar burada.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DİN KÜLTÜRÜ VE AHLAK BİLGİSİ · YENİ DİNÎ HAREKETLER</a:t>
            </a:r>
          </a:p>
        </p:txBody>
      </p:sp>
      <p:sp>
        <p:nvSpPr>
          <p:cNvPr id="4" name="TextBox 3"/>
          <p:cNvSpPr txBox="1"/>
          <p:nvPr/>
        </p:nvSpPr>
        <p:spPr>
          <a:xfrm>
            <a:off x="889000" y="2095500"/>
            <a:ext cx="6985000" cy="1270000"/>
          </a:xfrm>
          <a:prstGeom prst="rect">
            <a:avLst/>
          </a:prstGeom>
          <a:noFill/>
        </p:spPr>
        <p:txBody>
          <a:bodyPr wrap="square" anchor="t" lIns="0" rIns="0" tIns="0" bIns="0">
            <a:spAutoFit/>
          </a:bodyPr>
          <a:lstStyle/>
          <a:p>
            <a:pPr algn="l"/>
            <a:r>
              <a:rPr sz="7480" b="1" i="0">
                <a:solidFill>
                  <a:srgbClr val="241B14"/>
                </a:solidFill>
                <a:latin typeface="Bricolage Grotesque"/>
              </a:rPr>
              <a:t>Sabetaycılık</a:t>
            </a:r>
          </a:p>
        </p:txBody>
      </p:sp>
      <p:sp>
        <p:nvSpPr>
          <p:cNvPr id="5" name="TextBox 4"/>
          <p:cNvSpPr txBox="1"/>
          <p:nvPr/>
        </p:nvSpPr>
        <p:spPr>
          <a:xfrm>
            <a:off x="914400" y="3302000"/>
            <a:ext cx="5461000" cy="1016000"/>
          </a:xfrm>
          <a:prstGeom prst="rect">
            <a:avLst/>
          </a:prstGeom>
          <a:noFill/>
        </p:spPr>
        <p:txBody>
          <a:bodyPr wrap="square" anchor="t" lIns="0" rIns="0" tIns="0" bIns="0">
            <a:spAutoFit/>
          </a:bodyPr>
          <a:lstStyle/>
          <a:p>
            <a:pPr algn="l"/>
            <a:r>
              <a:rPr sz="2860" b="0" i="1">
                <a:solidFill>
                  <a:srgbClr val="9E2B25"/>
                </a:solidFill>
                <a:latin typeface="Instrument Serif"/>
              </a:rPr>
              <a:t>bir mesih bekleyişinden bir topluluğa</a:t>
            </a:r>
          </a:p>
        </p:txBody>
      </p:sp>
      <p:sp>
        <p:nvSpPr>
          <p:cNvPr id="6" name="Oval 5"/>
          <p:cNvSpPr/>
          <p:nvPr/>
        </p:nvSpPr>
        <p:spPr>
          <a:xfrm>
            <a:off x="7366000" y="1333500"/>
            <a:ext cx="4191000" cy="4191000"/>
          </a:xfrm>
          <a:prstGeom prst="ellipse">
            <a:avLst/>
          </a:prstGeom>
          <a:solidFill>
            <a:srgbClr val="EFE4D2"/>
          </a:solidFill>
          <a:ln w="19050">
            <a:solidFill>
              <a:srgbClr val="C9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18850" y="33718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34502" y="3977293"/>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36783" y="4492959"/>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61600" y="48566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21119" y="5079352"/>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25680" y="5079352"/>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547100" y="48566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110016" y="4492959"/>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812297" y="3977293"/>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689850" y="3371850"/>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812297" y="2804506"/>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10016" y="2288840"/>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7100" y="1887049"/>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25680" y="1702447"/>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721119" y="1702447"/>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61600" y="1887049"/>
            <a:ext cx="114300" cy="1143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736783" y="2288840"/>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034502" y="2804506"/>
            <a:ext cx="76200" cy="76200"/>
          </a:xfrm>
          <a:prstGeom prst="ellipse">
            <a:avLst/>
          </a:prstGeom>
          <a:solidFill>
            <a:srgbClr val="9E2B25"/>
          </a:solidFill>
          <a:ln w="635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91500" y="2984500"/>
            <a:ext cx="2540000" cy="698500"/>
          </a:xfrm>
          <a:prstGeom prst="rect">
            <a:avLst/>
          </a:prstGeom>
          <a:noFill/>
        </p:spPr>
        <p:txBody>
          <a:bodyPr wrap="square" anchor="t" lIns="0" rIns="0" tIns="0" bIns="0">
            <a:spAutoFit/>
          </a:bodyPr>
          <a:lstStyle/>
          <a:p>
            <a:pPr algn="ctr"/>
            <a:r>
              <a:rPr sz="5440" b="1" i="0">
                <a:solidFill>
                  <a:srgbClr val="241B14"/>
                </a:solidFill>
                <a:latin typeface="Bricolage Grotesque"/>
              </a:rPr>
              <a:t>1666</a:t>
            </a:r>
          </a:p>
        </p:txBody>
      </p:sp>
      <p:sp>
        <p:nvSpPr>
          <p:cNvPr id="26" name="TextBox 25"/>
          <p:cNvSpPr txBox="1"/>
          <p:nvPr/>
        </p:nvSpPr>
        <p:spPr>
          <a:xfrm>
            <a:off x="8191500" y="3714750"/>
            <a:ext cx="2540000" cy="190500"/>
          </a:xfrm>
          <a:prstGeom prst="rect">
            <a:avLst/>
          </a:prstGeom>
          <a:noFill/>
        </p:spPr>
        <p:txBody>
          <a:bodyPr wrap="square" anchor="t" lIns="0" rIns="0" tIns="0" bIns="0">
            <a:spAutoFit/>
          </a:bodyPr>
          <a:lstStyle/>
          <a:p>
            <a:pPr algn="ctr"/>
            <a:r>
              <a:rPr sz="1230" b="0" i="0">
                <a:solidFill>
                  <a:srgbClr val="9E2B25"/>
                </a:solidFill>
                <a:latin typeface="DM Mono"/>
              </a:rPr>
              <a:t>EDİRNE · İHTİDA</a:t>
            </a:r>
          </a:p>
        </p:txBody>
      </p:sp>
      <p:sp>
        <p:nvSpPr>
          <p:cNvPr id="27" name="TextBox 26"/>
          <p:cNvSpPr txBox="1"/>
          <p:nvPr/>
        </p:nvSpPr>
        <p:spPr>
          <a:xfrm>
            <a:off x="939800" y="5461000"/>
            <a:ext cx="2286000" cy="165100"/>
          </a:xfrm>
          <a:prstGeom prst="rect">
            <a:avLst/>
          </a:prstGeom>
          <a:noFill/>
        </p:spPr>
        <p:txBody>
          <a:bodyPr wrap="square" anchor="t" lIns="0" rIns="0" tIns="0" bIns="0">
            <a:spAutoFit/>
          </a:bodyPr>
          <a:lstStyle/>
          <a:p>
            <a:pPr algn="l"/>
            <a:r>
              <a:rPr sz="1230" b="0" i="0">
                <a:solidFill>
                  <a:srgbClr val="7A6A58"/>
                </a:solidFill>
                <a:latin typeface="DM Mono"/>
              </a:rPr>
              <a:t>Hazırlayan</a:t>
            </a:r>
          </a:p>
        </p:txBody>
      </p:sp>
      <p:sp>
        <p:nvSpPr>
          <p:cNvPr id="28" name="TextBox 27"/>
          <p:cNvSpPr txBox="1"/>
          <p:nvPr/>
        </p:nvSpPr>
        <p:spPr>
          <a:xfrm>
            <a:off x="939800" y="5651500"/>
            <a:ext cx="2413000" cy="254000"/>
          </a:xfrm>
          <a:prstGeom prst="rect">
            <a:avLst/>
          </a:prstGeom>
          <a:noFill/>
        </p:spPr>
        <p:txBody>
          <a:bodyPr wrap="square" anchor="t" lIns="0" rIns="0" tIns="0" bIns="0">
            <a:spAutoFit/>
          </a:bodyPr>
          <a:lstStyle/>
          <a:p>
            <a:pPr algn="l"/>
            <a:r>
              <a:rPr sz="1360" b="1" i="0">
                <a:solidFill>
                  <a:srgbClr val="241B14"/>
                </a:solidFill>
                <a:latin typeface="Archivo"/>
              </a:rPr>
              <a:t>Buğlem Duru Demir</a:t>
            </a:r>
          </a:p>
        </p:txBody>
      </p:sp>
      <p:sp>
        <p:nvSpPr>
          <p:cNvPr id="29" name="TextBox 28"/>
          <p:cNvSpPr txBox="1"/>
          <p:nvPr/>
        </p:nvSpPr>
        <p:spPr>
          <a:xfrm>
            <a:off x="2794000" y="5461000"/>
            <a:ext cx="2286000" cy="165100"/>
          </a:xfrm>
          <a:prstGeom prst="rect">
            <a:avLst/>
          </a:prstGeom>
          <a:noFill/>
        </p:spPr>
        <p:txBody>
          <a:bodyPr wrap="square" anchor="t" lIns="0" rIns="0" tIns="0" bIns="0">
            <a:spAutoFit/>
          </a:bodyPr>
          <a:lstStyle/>
          <a:p>
            <a:pPr algn="l"/>
            <a:r>
              <a:rPr sz="1230" b="0" i="0">
                <a:solidFill>
                  <a:srgbClr val="7A6A58"/>
                </a:solidFill>
                <a:latin typeface="DM Mono"/>
              </a:rPr>
              <a:t>Ders</a:t>
            </a:r>
          </a:p>
        </p:txBody>
      </p:sp>
      <p:sp>
        <p:nvSpPr>
          <p:cNvPr id="30" name="TextBox 29"/>
          <p:cNvSpPr txBox="1"/>
          <p:nvPr/>
        </p:nvSpPr>
        <p:spPr>
          <a:xfrm>
            <a:off x="2794000" y="5651500"/>
            <a:ext cx="2413000" cy="254000"/>
          </a:xfrm>
          <a:prstGeom prst="rect">
            <a:avLst/>
          </a:prstGeom>
          <a:noFill/>
        </p:spPr>
        <p:txBody>
          <a:bodyPr wrap="square" anchor="t" lIns="0" rIns="0" tIns="0" bIns="0">
            <a:spAutoFit/>
          </a:bodyPr>
          <a:lstStyle/>
          <a:p>
            <a:pPr algn="l"/>
            <a:r>
              <a:rPr sz="1360" b="1" i="0">
                <a:solidFill>
                  <a:srgbClr val="241B14"/>
                </a:solidFill>
                <a:latin typeface="Archivo"/>
              </a:rPr>
              <a:t>Din Kültürü ve Ahlak Bilgisi</a:t>
            </a:r>
          </a:p>
        </p:txBody>
      </p:sp>
      <p:sp>
        <p:nvSpPr>
          <p:cNvPr id="31" name="TextBox 30"/>
          <p:cNvSpPr txBox="1"/>
          <p:nvPr/>
        </p:nvSpPr>
        <p:spPr>
          <a:xfrm>
            <a:off x="5207000" y="5461000"/>
            <a:ext cx="2286000" cy="165100"/>
          </a:xfrm>
          <a:prstGeom prst="rect">
            <a:avLst/>
          </a:prstGeom>
          <a:noFill/>
        </p:spPr>
        <p:txBody>
          <a:bodyPr wrap="square" anchor="t" lIns="0" rIns="0" tIns="0" bIns="0">
            <a:spAutoFit/>
          </a:bodyPr>
          <a:lstStyle/>
          <a:p>
            <a:pPr algn="l"/>
            <a:r>
              <a:rPr sz="1230" b="0" i="0">
                <a:solidFill>
                  <a:srgbClr val="7A6A58"/>
                </a:solidFill>
                <a:latin typeface="DM Mono"/>
              </a:rPr>
              <a:t>Tarih</a:t>
            </a:r>
          </a:p>
        </p:txBody>
      </p:sp>
      <p:sp>
        <p:nvSpPr>
          <p:cNvPr id="32" name="TextBox 31"/>
          <p:cNvSpPr txBox="1"/>
          <p:nvPr/>
        </p:nvSpPr>
        <p:spPr>
          <a:xfrm>
            <a:off x="5207000" y="5651500"/>
            <a:ext cx="2413000" cy="254000"/>
          </a:xfrm>
          <a:prstGeom prst="rect">
            <a:avLst/>
          </a:prstGeom>
          <a:noFill/>
        </p:spPr>
        <p:txBody>
          <a:bodyPr wrap="square" anchor="t" lIns="0" rIns="0" tIns="0" bIns="0">
            <a:spAutoFit/>
          </a:bodyPr>
          <a:lstStyle/>
          <a:p>
            <a:pPr algn="l"/>
            <a:r>
              <a:rPr sz="1360" b="1" i="0">
                <a:solidFill>
                  <a:srgbClr val="241B14"/>
                </a:solidFill>
                <a:latin typeface="Archivo"/>
              </a:rPr>
              <a:t>Kasım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KAVRAMLAR</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Üç kelimeyle </a:t>
            </a:r>
            <a:r>
              <a:rPr sz="3670" b="0" i="1">
                <a:solidFill>
                  <a:srgbClr val="9E2B25"/>
                </a:solidFill>
                <a:latin typeface="Instrument Serif"/>
              </a:rPr>
              <a:t>başlayalım</a:t>
            </a:r>
          </a:p>
        </p:txBody>
      </p:sp>
      <p:sp>
        <p:nvSpPr>
          <p:cNvPr id="5" name="Rounded Rectangle 4"/>
          <p:cNvSpPr/>
          <p:nvPr/>
        </p:nvSpPr>
        <p:spPr>
          <a:xfrm>
            <a:off x="889000" y="2032000"/>
            <a:ext cx="3302000" cy="355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7900" y="2032000"/>
            <a:ext cx="3124200" cy="381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286000"/>
            <a:ext cx="2794000" cy="152400"/>
          </a:xfrm>
          <a:prstGeom prst="rect">
            <a:avLst/>
          </a:prstGeom>
          <a:noFill/>
        </p:spPr>
        <p:txBody>
          <a:bodyPr wrap="square" anchor="t" lIns="0" rIns="0" tIns="0" bIns="0">
            <a:spAutoFit/>
          </a:bodyPr>
          <a:lstStyle/>
          <a:p>
            <a:pPr algn="l"/>
            <a:r>
              <a:rPr sz="1230" b="0" i="0">
                <a:solidFill>
                  <a:srgbClr val="9E2B25"/>
                </a:solidFill>
                <a:latin typeface="DM Mono"/>
              </a:rPr>
              <a:t>MESİH</a:t>
            </a:r>
          </a:p>
        </p:txBody>
      </p:sp>
      <p:sp>
        <p:nvSpPr>
          <p:cNvPr id="8" name="TextBox 7"/>
          <p:cNvSpPr txBox="1"/>
          <p:nvPr/>
        </p:nvSpPr>
        <p:spPr>
          <a:xfrm>
            <a:off x="1143000" y="2508250"/>
            <a:ext cx="2794000" cy="508000"/>
          </a:xfrm>
          <a:prstGeom prst="rect">
            <a:avLst/>
          </a:prstGeom>
          <a:noFill/>
        </p:spPr>
        <p:txBody>
          <a:bodyPr wrap="square" anchor="t" lIns="0" rIns="0" tIns="0" bIns="0">
            <a:spAutoFit/>
          </a:bodyPr>
          <a:lstStyle/>
          <a:p>
            <a:pPr algn="l"/>
            <a:r>
              <a:rPr sz="2990" b="1" i="0">
                <a:solidFill>
                  <a:srgbClr val="241B14"/>
                </a:solidFill>
                <a:latin typeface="Bricolage Grotesque"/>
              </a:rPr>
              <a:t>Mesih</a:t>
            </a:r>
          </a:p>
        </p:txBody>
      </p:sp>
      <p:sp>
        <p:nvSpPr>
          <p:cNvPr id="9" name="TextBox 8"/>
          <p:cNvSpPr txBox="1"/>
          <p:nvPr/>
        </p:nvSpPr>
        <p:spPr>
          <a:xfrm>
            <a:off x="1143000" y="3111500"/>
            <a:ext cx="2794000" cy="1651000"/>
          </a:xfrm>
          <a:prstGeom prst="rect">
            <a:avLst/>
          </a:prstGeom>
          <a:noFill/>
        </p:spPr>
        <p:txBody>
          <a:bodyPr wrap="square" anchor="t" lIns="0" rIns="0" tIns="0" bIns="0">
            <a:spAutoFit/>
          </a:bodyPr>
          <a:lstStyle/>
          <a:p>
            <a:pPr algn="l"/>
            <a:r>
              <a:rPr sz="1430" b="0" i="0">
                <a:solidFill>
                  <a:srgbClr val="241B14"/>
                </a:solidFill>
                <a:latin typeface="Archivo"/>
              </a:rPr>
              <a:t>Yahudi inancında, Tanrı tarafından gönderilip halkı kurtaracağına ve barış getireceğine inanılan beklenen kişi.</a:t>
            </a:r>
          </a:p>
        </p:txBody>
      </p:sp>
      <p:sp>
        <p:nvSpPr>
          <p:cNvPr id="10" name="TextBox 9"/>
          <p:cNvSpPr txBox="1"/>
          <p:nvPr/>
        </p:nvSpPr>
        <p:spPr>
          <a:xfrm>
            <a:off x="1143000" y="4889500"/>
            <a:ext cx="2794000" cy="571500"/>
          </a:xfrm>
          <a:prstGeom prst="rect">
            <a:avLst/>
          </a:prstGeom>
          <a:noFill/>
        </p:spPr>
        <p:txBody>
          <a:bodyPr wrap="square" anchor="t" lIns="0" rIns="0" tIns="0" bIns="0">
            <a:spAutoFit/>
          </a:bodyPr>
          <a:lstStyle/>
          <a:p>
            <a:pPr algn="l"/>
            <a:r>
              <a:rPr sz="1290" b="0" i="1">
                <a:solidFill>
                  <a:srgbClr val="7A6A58"/>
                </a:solidFill>
                <a:latin typeface="Instrument Serif"/>
              </a:rPr>
              <a:t>İbranice “maşiah”: meshedilmiş, kutsanmış</a:t>
            </a:r>
          </a:p>
        </p:txBody>
      </p:sp>
      <p:sp>
        <p:nvSpPr>
          <p:cNvPr id="11" name="Rounded Rectangle 10"/>
          <p:cNvSpPr/>
          <p:nvPr/>
        </p:nvSpPr>
        <p:spPr>
          <a:xfrm>
            <a:off x="4445000" y="2032000"/>
            <a:ext cx="3302000" cy="355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33900" y="2032000"/>
            <a:ext cx="3124200" cy="38100"/>
          </a:xfrm>
          <a:prstGeom prst="rect">
            <a:avLst/>
          </a:prstGeom>
          <a:solidFill>
            <a:srgbClr val="1F6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99000" y="2286000"/>
            <a:ext cx="2794000" cy="152400"/>
          </a:xfrm>
          <a:prstGeom prst="rect">
            <a:avLst/>
          </a:prstGeom>
          <a:noFill/>
        </p:spPr>
        <p:txBody>
          <a:bodyPr wrap="square" anchor="t" lIns="0" rIns="0" tIns="0" bIns="0">
            <a:spAutoFit/>
          </a:bodyPr>
          <a:lstStyle/>
          <a:p>
            <a:pPr algn="l"/>
            <a:r>
              <a:rPr sz="1230" b="0" i="0">
                <a:solidFill>
                  <a:srgbClr val="1F6F6A"/>
                </a:solidFill>
                <a:latin typeface="DM Mono"/>
              </a:rPr>
              <a:t>KABALA</a:t>
            </a:r>
          </a:p>
        </p:txBody>
      </p:sp>
      <p:sp>
        <p:nvSpPr>
          <p:cNvPr id="14" name="TextBox 13"/>
          <p:cNvSpPr txBox="1"/>
          <p:nvPr/>
        </p:nvSpPr>
        <p:spPr>
          <a:xfrm>
            <a:off x="4699000" y="2508250"/>
            <a:ext cx="2794000" cy="508000"/>
          </a:xfrm>
          <a:prstGeom prst="rect">
            <a:avLst/>
          </a:prstGeom>
          <a:noFill/>
        </p:spPr>
        <p:txBody>
          <a:bodyPr wrap="square" anchor="t" lIns="0" rIns="0" tIns="0" bIns="0">
            <a:spAutoFit/>
          </a:bodyPr>
          <a:lstStyle/>
          <a:p>
            <a:pPr algn="l"/>
            <a:r>
              <a:rPr sz="2990" b="1" i="0">
                <a:solidFill>
                  <a:srgbClr val="241B14"/>
                </a:solidFill>
                <a:latin typeface="Bricolage Grotesque"/>
              </a:rPr>
              <a:t>Kabala</a:t>
            </a:r>
          </a:p>
        </p:txBody>
      </p:sp>
      <p:sp>
        <p:nvSpPr>
          <p:cNvPr id="15" name="TextBox 14"/>
          <p:cNvSpPr txBox="1"/>
          <p:nvPr/>
        </p:nvSpPr>
        <p:spPr>
          <a:xfrm>
            <a:off x="4699000" y="3111500"/>
            <a:ext cx="2794000" cy="1651000"/>
          </a:xfrm>
          <a:prstGeom prst="rect">
            <a:avLst/>
          </a:prstGeom>
          <a:noFill/>
        </p:spPr>
        <p:txBody>
          <a:bodyPr wrap="square" anchor="t" lIns="0" rIns="0" tIns="0" bIns="0">
            <a:spAutoFit/>
          </a:bodyPr>
          <a:lstStyle/>
          <a:p>
            <a:pPr algn="l"/>
            <a:r>
              <a:rPr sz="1430" b="0" i="0">
                <a:solidFill>
                  <a:srgbClr val="241B14"/>
                </a:solidFill>
                <a:latin typeface="Archivo"/>
              </a:rPr>
              <a:t>Yahudilikte, kutsal metinlerin gizli anlamlarını arayan mistik düşünce geleneği. Sabetaycılık bu ortamda doğdu.</a:t>
            </a:r>
          </a:p>
        </p:txBody>
      </p:sp>
      <p:sp>
        <p:nvSpPr>
          <p:cNvPr id="16" name="TextBox 15"/>
          <p:cNvSpPr txBox="1"/>
          <p:nvPr/>
        </p:nvSpPr>
        <p:spPr>
          <a:xfrm>
            <a:off x="4699000" y="4889500"/>
            <a:ext cx="2794000" cy="571500"/>
          </a:xfrm>
          <a:prstGeom prst="rect">
            <a:avLst/>
          </a:prstGeom>
          <a:noFill/>
        </p:spPr>
        <p:txBody>
          <a:bodyPr wrap="square" anchor="t" lIns="0" rIns="0" tIns="0" bIns="0">
            <a:spAutoFit/>
          </a:bodyPr>
          <a:lstStyle/>
          <a:p>
            <a:pPr algn="l"/>
            <a:r>
              <a:rPr sz="1290" b="0" i="1">
                <a:solidFill>
                  <a:srgbClr val="7A6A58"/>
                </a:solidFill>
                <a:latin typeface="Instrument Serif"/>
              </a:rPr>
              <a:t>İbranice “kabbalah”: kabul edilen, aktarılan</a:t>
            </a:r>
          </a:p>
        </p:txBody>
      </p:sp>
      <p:sp>
        <p:nvSpPr>
          <p:cNvPr id="17" name="Rounded Rectangle 16"/>
          <p:cNvSpPr/>
          <p:nvPr/>
        </p:nvSpPr>
        <p:spPr>
          <a:xfrm>
            <a:off x="8001000" y="2032000"/>
            <a:ext cx="3302000" cy="355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9900" y="2032000"/>
            <a:ext cx="3124200" cy="38100"/>
          </a:xfrm>
          <a:prstGeom prst="rect">
            <a:avLst/>
          </a:prstGeom>
          <a:solidFill>
            <a:srgbClr val="C0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5000" y="2286000"/>
            <a:ext cx="2794000" cy="152400"/>
          </a:xfrm>
          <a:prstGeom prst="rect">
            <a:avLst/>
          </a:prstGeom>
          <a:noFill/>
        </p:spPr>
        <p:txBody>
          <a:bodyPr wrap="square" anchor="t" lIns="0" rIns="0" tIns="0" bIns="0">
            <a:spAutoFit/>
          </a:bodyPr>
          <a:lstStyle/>
          <a:p>
            <a:pPr algn="l"/>
            <a:r>
              <a:rPr sz="1230" b="0" i="0">
                <a:solidFill>
                  <a:srgbClr val="C0572B"/>
                </a:solidFill>
                <a:latin typeface="DM Mono"/>
              </a:rPr>
              <a:t>SABETAYCILIK</a:t>
            </a:r>
          </a:p>
        </p:txBody>
      </p:sp>
      <p:sp>
        <p:nvSpPr>
          <p:cNvPr id="20" name="TextBox 19"/>
          <p:cNvSpPr txBox="1"/>
          <p:nvPr/>
        </p:nvSpPr>
        <p:spPr>
          <a:xfrm>
            <a:off x="8255000" y="2508250"/>
            <a:ext cx="2794000" cy="508000"/>
          </a:xfrm>
          <a:prstGeom prst="rect">
            <a:avLst/>
          </a:prstGeom>
          <a:noFill/>
        </p:spPr>
        <p:txBody>
          <a:bodyPr wrap="square" anchor="t" lIns="0" rIns="0" tIns="0" bIns="0">
            <a:spAutoFit/>
          </a:bodyPr>
          <a:lstStyle/>
          <a:p>
            <a:pPr algn="l"/>
            <a:r>
              <a:rPr sz="2990" b="1" i="0">
                <a:solidFill>
                  <a:srgbClr val="241B14"/>
                </a:solidFill>
                <a:latin typeface="Bricolage Grotesque"/>
              </a:rPr>
              <a:t>Sabetaycılık</a:t>
            </a:r>
          </a:p>
        </p:txBody>
      </p:sp>
      <p:sp>
        <p:nvSpPr>
          <p:cNvPr id="21" name="TextBox 20"/>
          <p:cNvSpPr txBox="1"/>
          <p:nvPr/>
        </p:nvSpPr>
        <p:spPr>
          <a:xfrm>
            <a:off x="8255000" y="3111500"/>
            <a:ext cx="2794000" cy="1651000"/>
          </a:xfrm>
          <a:prstGeom prst="rect">
            <a:avLst/>
          </a:prstGeom>
          <a:noFill/>
        </p:spPr>
        <p:txBody>
          <a:bodyPr wrap="square" anchor="t" lIns="0" rIns="0" tIns="0" bIns="0">
            <a:spAutoFit/>
          </a:bodyPr>
          <a:lstStyle/>
          <a:p>
            <a:pPr algn="l"/>
            <a:r>
              <a:rPr sz="1430" b="0" i="0">
                <a:solidFill>
                  <a:srgbClr val="241B14"/>
                </a:solidFill>
                <a:latin typeface="Archivo"/>
              </a:rPr>
              <a:t>Sabetay Sevi'yi mesih kabul eden; onun 1666'da Müslüman olmasından sonra da kendine özgü inançlarını sürdüren topluluk.</a:t>
            </a:r>
          </a:p>
        </p:txBody>
      </p:sp>
      <p:sp>
        <p:nvSpPr>
          <p:cNvPr id="22" name="TextBox 21"/>
          <p:cNvSpPr txBox="1"/>
          <p:nvPr/>
        </p:nvSpPr>
        <p:spPr>
          <a:xfrm>
            <a:off x="8255000" y="4889500"/>
            <a:ext cx="2794000" cy="571500"/>
          </a:xfrm>
          <a:prstGeom prst="rect">
            <a:avLst/>
          </a:prstGeom>
          <a:noFill/>
        </p:spPr>
        <p:txBody>
          <a:bodyPr wrap="square" anchor="t" lIns="0" rIns="0" tIns="0" bIns="0">
            <a:spAutoFit/>
          </a:bodyPr>
          <a:lstStyle/>
          <a:p>
            <a:pPr algn="l"/>
            <a:r>
              <a:rPr sz="1290" b="0" i="1">
                <a:solidFill>
                  <a:srgbClr val="7A6A58"/>
                </a:solidFill>
                <a:latin typeface="Instrument Serif"/>
              </a:rPr>
              <a:t>Halk arasında “dönme” denmiş; bu kelime aşağılayıcı kabul edilir.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SABETAY SEVİ · 1626–1676</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İzmir'den Ülgün'e </a:t>
            </a:r>
            <a:r>
              <a:rPr sz="3670" b="0" i="1">
                <a:solidFill>
                  <a:srgbClr val="9E2B25"/>
                </a:solidFill>
                <a:latin typeface="Instrument Serif"/>
              </a:rPr>
              <a:t>bir hayat</a:t>
            </a:r>
          </a:p>
        </p:txBody>
      </p:sp>
      <p:cxnSp>
        <p:nvCxnSpPr>
          <p:cNvPr id="5" name="Connector 4"/>
          <p:cNvCxnSpPr/>
          <p:nvPr/>
        </p:nvCxnSpPr>
        <p:spPr>
          <a:xfrm flipV="1">
            <a:off x="1270000" y="2921000"/>
            <a:ext cx="3048000" cy="1651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318000" y="2921000"/>
            <a:ext cx="3048000" cy="889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66000" y="3175000"/>
            <a:ext cx="3429000" cy="635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168400" y="4470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0500" y="4762500"/>
            <a:ext cx="2921000" cy="165100"/>
          </a:xfrm>
          <a:prstGeom prst="rect">
            <a:avLst/>
          </a:prstGeom>
          <a:noFill/>
        </p:spPr>
        <p:txBody>
          <a:bodyPr wrap="square" anchor="t" lIns="0" rIns="0" tIns="0" bIns="0">
            <a:spAutoFit/>
          </a:bodyPr>
          <a:lstStyle/>
          <a:p>
            <a:pPr algn="ctr"/>
            <a:r>
              <a:rPr sz="1330" b="0" i="0">
                <a:solidFill>
                  <a:srgbClr val="9E2B25"/>
                </a:solidFill>
                <a:latin typeface="DM Mono"/>
              </a:rPr>
              <a:t>1626</a:t>
            </a:r>
          </a:p>
        </p:txBody>
      </p:sp>
      <p:sp>
        <p:nvSpPr>
          <p:cNvPr id="10" name="TextBox 9"/>
          <p:cNvSpPr txBox="1"/>
          <p:nvPr/>
        </p:nvSpPr>
        <p:spPr>
          <a:xfrm>
            <a:off x="-190500" y="4940300"/>
            <a:ext cx="2921000" cy="279400"/>
          </a:xfrm>
          <a:prstGeom prst="rect">
            <a:avLst/>
          </a:prstGeom>
          <a:noFill/>
        </p:spPr>
        <p:txBody>
          <a:bodyPr wrap="square" anchor="t" lIns="0" rIns="0" tIns="0" bIns="0">
            <a:spAutoFit/>
          </a:bodyPr>
          <a:lstStyle/>
          <a:p>
            <a:pPr algn="ctr"/>
            <a:r>
              <a:rPr sz="1630" b="1" i="0">
                <a:solidFill>
                  <a:srgbClr val="241B14"/>
                </a:solidFill>
                <a:latin typeface="Bricolage Grotesque"/>
              </a:rPr>
              <a:t>İzmir</a:t>
            </a:r>
          </a:p>
        </p:txBody>
      </p:sp>
      <p:sp>
        <p:nvSpPr>
          <p:cNvPr id="11" name="TextBox 10"/>
          <p:cNvSpPr txBox="1"/>
          <p:nvPr/>
        </p:nvSpPr>
        <p:spPr>
          <a:xfrm>
            <a:off x="-190500" y="5207000"/>
            <a:ext cx="2921000" cy="190500"/>
          </a:xfrm>
          <a:prstGeom prst="rect">
            <a:avLst/>
          </a:prstGeom>
          <a:noFill/>
        </p:spPr>
        <p:txBody>
          <a:bodyPr wrap="square" anchor="t" lIns="0" rIns="0" tIns="0" bIns="0">
            <a:spAutoFit/>
          </a:bodyPr>
          <a:lstStyle/>
          <a:p>
            <a:pPr algn="ctr"/>
            <a:r>
              <a:rPr sz="1090" b="0" i="0">
                <a:solidFill>
                  <a:srgbClr val="7A6A58"/>
                </a:solidFill>
                <a:latin typeface="Archivo"/>
              </a:rPr>
              <a:t>doğum</a:t>
            </a:r>
          </a:p>
        </p:txBody>
      </p:sp>
      <p:sp>
        <p:nvSpPr>
          <p:cNvPr id="12" name="Oval 11"/>
          <p:cNvSpPr/>
          <p:nvPr/>
        </p:nvSpPr>
        <p:spPr>
          <a:xfrm>
            <a:off x="4216400" y="2819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0" y="3111500"/>
            <a:ext cx="2921000" cy="165100"/>
          </a:xfrm>
          <a:prstGeom prst="rect">
            <a:avLst/>
          </a:prstGeom>
          <a:noFill/>
        </p:spPr>
        <p:txBody>
          <a:bodyPr wrap="square" anchor="t" lIns="0" rIns="0" tIns="0" bIns="0">
            <a:spAutoFit/>
          </a:bodyPr>
          <a:lstStyle/>
          <a:p>
            <a:pPr algn="ctr"/>
            <a:r>
              <a:rPr sz="1330" b="0" i="0">
                <a:solidFill>
                  <a:srgbClr val="9E2B25"/>
                </a:solidFill>
                <a:latin typeface="DM Mono"/>
              </a:rPr>
              <a:t>1665</a:t>
            </a:r>
          </a:p>
        </p:txBody>
      </p:sp>
      <p:sp>
        <p:nvSpPr>
          <p:cNvPr id="14" name="TextBox 13"/>
          <p:cNvSpPr txBox="1"/>
          <p:nvPr/>
        </p:nvSpPr>
        <p:spPr>
          <a:xfrm>
            <a:off x="2857500" y="3289300"/>
            <a:ext cx="2921000" cy="279400"/>
          </a:xfrm>
          <a:prstGeom prst="rect">
            <a:avLst/>
          </a:prstGeom>
          <a:noFill/>
        </p:spPr>
        <p:txBody>
          <a:bodyPr wrap="square" anchor="t" lIns="0" rIns="0" tIns="0" bIns="0">
            <a:spAutoFit/>
          </a:bodyPr>
          <a:lstStyle/>
          <a:p>
            <a:pPr algn="ctr"/>
            <a:r>
              <a:rPr sz="1630" b="1" i="0">
                <a:solidFill>
                  <a:srgbClr val="241B14"/>
                </a:solidFill>
                <a:latin typeface="Bricolage Grotesque"/>
              </a:rPr>
              <a:t>Gazze</a:t>
            </a:r>
          </a:p>
        </p:txBody>
      </p:sp>
      <p:sp>
        <p:nvSpPr>
          <p:cNvPr id="15" name="TextBox 14"/>
          <p:cNvSpPr txBox="1"/>
          <p:nvPr/>
        </p:nvSpPr>
        <p:spPr>
          <a:xfrm>
            <a:off x="2857500" y="3556000"/>
            <a:ext cx="2921000" cy="190500"/>
          </a:xfrm>
          <a:prstGeom prst="rect">
            <a:avLst/>
          </a:prstGeom>
          <a:noFill/>
        </p:spPr>
        <p:txBody>
          <a:bodyPr wrap="square" anchor="t" lIns="0" rIns="0" tIns="0" bIns="0">
            <a:spAutoFit/>
          </a:bodyPr>
          <a:lstStyle/>
          <a:p>
            <a:pPr algn="ctr"/>
            <a:r>
              <a:rPr sz="1090" b="0" i="0">
                <a:solidFill>
                  <a:srgbClr val="7A6A58"/>
                </a:solidFill>
                <a:latin typeface="Archivo"/>
              </a:rPr>
              <a:t>Natan “mesih” ilan eder</a:t>
            </a:r>
          </a:p>
        </p:txBody>
      </p:sp>
      <p:sp>
        <p:nvSpPr>
          <p:cNvPr id="16" name="Oval 15"/>
          <p:cNvSpPr/>
          <p:nvPr/>
        </p:nvSpPr>
        <p:spPr>
          <a:xfrm>
            <a:off x="7264400" y="3708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05500" y="4000500"/>
            <a:ext cx="2921000" cy="165100"/>
          </a:xfrm>
          <a:prstGeom prst="rect">
            <a:avLst/>
          </a:prstGeom>
          <a:noFill/>
        </p:spPr>
        <p:txBody>
          <a:bodyPr wrap="square" anchor="t" lIns="0" rIns="0" tIns="0" bIns="0">
            <a:spAutoFit/>
          </a:bodyPr>
          <a:lstStyle/>
          <a:p>
            <a:pPr algn="ctr"/>
            <a:r>
              <a:rPr sz="1330" b="0" i="0">
                <a:solidFill>
                  <a:srgbClr val="9E2B25"/>
                </a:solidFill>
                <a:latin typeface="DM Mono"/>
              </a:rPr>
              <a:t>1666</a:t>
            </a:r>
          </a:p>
        </p:txBody>
      </p:sp>
      <p:sp>
        <p:nvSpPr>
          <p:cNvPr id="18" name="TextBox 17"/>
          <p:cNvSpPr txBox="1"/>
          <p:nvPr/>
        </p:nvSpPr>
        <p:spPr>
          <a:xfrm>
            <a:off x="5905500" y="4178300"/>
            <a:ext cx="2921000" cy="279400"/>
          </a:xfrm>
          <a:prstGeom prst="rect">
            <a:avLst/>
          </a:prstGeom>
          <a:noFill/>
        </p:spPr>
        <p:txBody>
          <a:bodyPr wrap="square" anchor="t" lIns="0" rIns="0" tIns="0" bIns="0">
            <a:spAutoFit/>
          </a:bodyPr>
          <a:lstStyle/>
          <a:p>
            <a:pPr algn="ctr"/>
            <a:r>
              <a:rPr sz="1630" b="1" i="0">
                <a:solidFill>
                  <a:srgbClr val="241B14"/>
                </a:solidFill>
                <a:latin typeface="Bricolage Grotesque"/>
              </a:rPr>
              <a:t>İstanbul · Gelibolu · Edirne</a:t>
            </a:r>
          </a:p>
        </p:txBody>
      </p:sp>
      <p:sp>
        <p:nvSpPr>
          <p:cNvPr id="19" name="TextBox 18"/>
          <p:cNvSpPr txBox="1"/>
          <p:nvPr/>
        </p:nvSpPr>
        <p:spPr>
          <a:xfrm>
            <a:off x="5905500" y="4445000"/>
            <a:ext cx="2921000" cy="190500"/>
          </a:xfrm>
          <a:prstGeom prst="rect">
            <a:avLst/>
          </a:prstGeom>
          <a:noFill/>
        </p:spPr>
        <p:txBody>
          <a:bodyPr wrap="square" anchor="t" lIns="0" rIns="0" tIns="0" bIns="0">
            <a:spAutoFit/>
          </a:bodyPr>
          <a:lstStyle/>
          <a:p>
            <a:pPr algn="ctr"/>
            <a:r>
              <a:rPr sz="1090" b="0" i="0">
                <a:solidFill>
                  <a:srgbClr val="7A6A58"/>
                </a:solidFill>
                <a:latin typeface="Archivo"/>
              </a:rPr>
              <a:t>tutuklanma ve ihtida</a:t>
            </a:r>
          </a:p>
        </p:txBody>
      </p:sp>
      <p:sp>
        <p:nvSpPr>
          <p:cNvPr id="20" name="Oval 19"/>
          <p:cNvSpPr/>
          <p:nvPr/>
        </p:nvSpPr>
        <p:spPr>
          <a:xfrm>
            <a:off x="10693400" y="3073400"/>
            <a:ext cx="203200" cy="203200"/>
          </a:xfrm>
          <a:prstGeom prst="ellipse">
            <a:avLst/>
          </a:prstGeom>
          <a:solidFill>
            <a:srgbClr val="EFE4D2"/>
          </a:solidFill>
          <a:ln w="381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34500" y="3365500"/>
            <a:ext cx="2921000" cy="165100"/>
          </a:xfrm>
          <a:prstGeom prst="rect">
            <a:avLst/>
          </a:prstGeom>
          <a:noFill/>
        </p:spPr>
        <p:txBody>
          <a:bodyPr wrap="square" anchor="t" lIns="0" rIns="0" tIns="0" bIns="0">
            <a:spAutoFit/>
          </a:bodyPr>
          <a:lstStyle/>
          <a:p>
            <a:pPr algn="ctr"/>
            <a:r>
              <a:rPr sz="1330" b="0" i="0">
                <a:solidFill>
                  <a:srgbClr val="9E2B25"/>
                </a:solidFill>
                <a:latin typeface="DM Mono"/>
              </a:rPr>
              <a:t>1676</a:t>
            </a:r>
          </a:p>
        </p:txBody>
      </p:sp>
      <p:sp>
        <p:nvSpPr>
          <p:cNvPr id="22" name="TextBox 21"/>
          <p:cNvSpPr txBox="1"/>
          <p:nvPr/>
        </p:nvSpPr>
        <p:spPr>
          <a:xfrm>
            <a:off x="9334500" y="3543300"/>
            <a:ext cx="2921000" cy="279400"/>
          </a:xfrm>
          <a:prstGeom prst="rect">
            <a:avLst/>
          </a:prstGeom>
          <a:noFill/>
        </p:spPr>
        <p:txBody>
          <a:bodyPr wrap="square" anchor="t" lIns="0" rIns="0" tIns="0" bIns="0">
            <a:spAutoFit/>
          </a:bodyPr>
          <a:lstStyle/>
          <a:p>
            <a:pPr algn="ctr"/>
            <a:r>
              <a:rPr sz="1630" b="1" i="0">
                <a:solidFill>
                  <a:srgbClr val="241B14"/>
                </a:solidFill>
                <a:latin typeface="Bricolage Grotesque"/>
              </a:rPr>
              <a:t>Ülgün</a:t>
            </a:r>
          </a:p>
        </p:txBody>
      </p:sp>
      <p:sp>
        <p:nvSpPr>
          <p:cNvPr id="23" name="TextBox 22"/>
          <p:cNvSpPr txBox="1"/>
          <p:nvPr/>
        </p:nvSpPr>
        <p:spPr>
          <a:xfrm>
            <a:off x="9334500" y="3810000"/>
            <a:ext cx="2921000" cy="190500"/>
          </a:xfrm>
          <a:prstGeom prst="rect">
            <a:avLst/>
          </a:prstGeom>
          <a:noFill/>
        </p:spPr>
        <p:txBody>
          <a:bodyPr wrap="square" anchor="t" lIns="0" rIns="0" tIns="0" bIns="0">
            <a:spAutoFit/>
          </a:bodyPr>
          <a:lstStyle/>
          <a:p>
            <a:pPr algn="ctr"/>
            <a:r>
              <a:rPr sz="1090" b="0" i="0">
                <a:solidFill>
                  <a:srgbClr val="7A6A58"/>
                </a:solidFill>
                <a:latin typeface="Archivo"/>
              </a:rPr>
              <a:t>sürgün ve ölüm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DÖNÜM NOKTASI</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1666, Edirne: </a:t>
            </a:r>
            <a:r>
              <a:rPr sz="3670" b="0" i="1">
                <a:solidFill>
                  <a:srgbClr val="9E2B25"/>
                </a:solidFill>
                <a:latin typeface="Instrument Serif"/>
              </a:rPr>
              <a:t>“Aziz Mehmed Efendi”</a:t>
            </a:r>
          </a:p>
        </p:txBody>
      </p:sp>
      <p:sp>
        <p:nvSpPr>
          <p:cNvPr id="5" name="Rounded Rectangle 4"/>
          <p:cNvSpPr/>
          <p:nvPr/>
        </p:nvSpPr>
        <p:spPr>
          <a:xfrm>
            <a:off x="889000" y="2095500"/>
            <a:ext cx="4445000" cy="2921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8400" y="2349500"/>
            <a:ext cx="3810000" cy="152400"/>
          </a:xfrm>
          <a:prstGeom prst="rect">
            <a:avLst/>
          </a:prstGeom>
          <a:noFill/>
        </p:spPr>
        <p:txBody>
          <a:bodyPr wrap="square" anchor="t" lIns="0" rIns="0" tIns="0" bIns="0">
            <a:spAutoFit/>
          </a:bodyPr>
          <a:lstStyle/>
          <a:p>
            <a:pPr algn="l"/>
            <a:r>
              <a:rPr sz="1230" b="0" i="0">
                <a:solidFill>
                  <a:srgbClr val="1F6F6A"/>
                </a:solidFill>
                <a:latin typeface="DM Mono"/>
              </a:rPr>
              <a:t>ÖNCE</a:t>
            </a:r>
          </a:p>
        </p:txBody>
      </p:sp>
      <p:sp>
        <p:nvSpPr>
          <p:cNvPr id="7" name="TextBox 6"/>
          <p:cNvSpPr txBox="1"/>
          <p:nvPr/>
        </p:nvSpPr>
        <p:spPr>
          <a:xfrm>
            <a:off x="1168400" y="2571750"/>
            <a:ext cx="3937000" cy="444500"/>
          </a:xfrm>
          <a:prstGeom prst="rect">
            <a:avLst/>
          </a:prstGeom>
          <a:noFill/>
        </p:spPr>
        <p:txBody>
          <a:bodyPr wrap="square" anchor="t" lIns="0" rIns="0" tIns="0" bIns="0">
            <a:spAutoFit/>
          </a:bodyPr>
          <a:lstStyle/>
          <a:p>
            <a:pPr algn="l"/>
            <a:r>
              <a:rPr sz="2720" b="1" i="0">
                <a:solidFill>
                  <a:srgbClr val="241B14"/>
                </a:solidFill>
                <a:latin typeface="Bricolage Grotesque"/>
              </a:rPr>
              <a:t>Sabetay Sevi</a:t>
            </a:r>
          </a:p>
        </p:txBody>
      </p:sp>
      <p:sp>
        <p:nvSpPr>
          <p:cNvPr id="8" name="TextBox 7"/>
          <p:cNvSpPr txBox="1"/>
          <p:nvPr/>
        </p:nvSpPr>
        <p:spPr>
          <a:xfrm>
            <a:off x="1168400" y="3048000"/>
            <a:ext cx="3937000" cy="254000"/>
          </a:xfrm>
          <a:prstGeom prst="rect">
            <a:avLst/>
          </a:prstGeom>
          <a:noFill/>
        </p:spPr>
        <p:txBody>
          <a:bodyPr wrap="square" anchor="t" lIns="0" rIns="0" tIns="0" bIns="0">
            <a:spAutoFit/>
          </a:bodyPr>
          <a:lstStyle/>
          <a:p>
            <a:pPr algn="l"/>
            <a:r>
              <a:rPr sz="1500" b="0" i="1">
                <a:solidFill>
                  <a:srgbClr val="1F6F6A"/>
                </a:solidFill>
                <a:latin typeface="Instrument Serif"/>
              </a:rPr>
              <a:t>Mesih olduğunu iddia eden Kabala âlimi</a:t>
            </a:r>
          </a:p>
        </p:txBody>
      </p:sp>
      <p:sp>
        <p:nvSpPr>
          <p:cNvPr id="9" name="TextBox 8"/>
          <p:cNvSpPr txBox="1"/>
          <p:nvPr/>
        </p:nvSpPr>
        <p:spPr>
          <a:xfrm>
            <a:off x="1168400" y="3429000"/>
            <a:ext cx="3937000" cy="1397000"/>
          </a:xfrm>
          <a:prstGeom prst="rect">
            <a:avLst/>
          </a:prstGeom>
          <a:noFill/>
        </p:spPr>
        <p:txBody>
          <a:bodyPr wrap="square" anchor="t" lIns="0" rIns="0" tIns="0" bIns="0">
            <a:spAutoFit/>
          </a:bodyPr>
          <a:lstStyle/>
          <a:p>
            <a:pPr algn="l"/>
            <a:r>
              <a:rPr sz="1500" b="0" i="0">
                <a:solidFill>
                  <a:srgbClr val="241B14"/>
                </a:solidFill>
                <a:latin typeface="Archivo"/>
              </a:rPr>
              <a:t>Binlerce takipçisi kurtuluşun yaklaştığına inanıyordu; bazıları mallarını satıp yola çıkmaya hazırlanmıştı.</a:t>
            </a:r>
          </a:p>
        </p:txBody>
      </p:sp>
      <p:sp>
        <p:nvSpPr>
          <p:cNvPr id="10" name="Rounded Rectangle 9"/>
          <p:cNvSpPr/>
          <p:nvPr/>
        </p:nvSpPr>
        <p:spPr>
          <a:xfrm>
            <a:off x="6858000" y="2095500"/>
            <a:ext cx="4445000" cy="2921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7400" y="2349500"/>
            <a:ext cx="3810000" cy="152400"/>
          </a:xfrm>
          <a:prstGeom prst="rect">
            <a:avLst/>
          </a:prstGeom>
          <a:noFill/>
        </p:spPr>
        <p:txBody>
          <a:bodyPr wrap="square" anchor="t" lIns="0" rIns="0" tIns="0" bIns="0">
            <a:spAutoFit/>
          </a:bodyPr>
          <a:lstStyle/>
          <a:p>
            <a:pPr algn="l"/>
            <a:r>
              <a:rPr sz="1230" b="0" i="0">
                <a:solidFill>
                  <a:srgbClr val="9E2B25"/>
                </a:solidFill>
                <a:latin typeface="DM Mono"/>
              </a:rPr>
              <a:t>SONRA</a:t>
            </a:r>
          </a:p>
        </p:txBody>
      </p:sp>
      <p:sp>
        <p:nvSpPr>
          <p:cNvPr id="12" name="TextBox 11"/>
          <p:cNvSpPr txBox="1"/>
          <p:nvPr/>
        </p:nvSpPr>
        <p:spPr>
          <a:xfrm>
            <a:off x="7137400" y="2571750"/>
            <a:ext cx="3937000" cy="444500"/>
          </a:xfrm>
          <a:prstGeom prst="rect">
            <a:avLst/>
          </a:prstGeom>
          <a:noFill/>
        </p:spPr>
        <p:txBody>
          <a:bodyPr wrap="square" anchor="t" lIns="0" rIns="0" tIns="0" bIns="0">
            <a:spAutoFit/>
          </a:bodyPr>
          <a:lstStyle/>
          <a:p>
            <a:pPr algn="l"/>
            <a:r>
              <a:rPr sz="2720" b="1" i="0">
                <a:solidFill>
                  <a:srgbClr val="241B14"/>
                </a:solidFill>
                <a:latin typeface="Bricolage Grotesque"/>
              </a:rPr>
              <a:t>Aziz Mehmed Efendi</a:t>
            </a:r>
          </a:p>
        </p:txBody>
      </p:sp>
      <p:sp>
        <p:nvSpPr>
          <p:cNvPr id="13" name="TextBox 12"/>
          <p:cNvSpPr txBox="1"/>
          <p:nvPr/>
        </p:nvSpPr>
        <p:spPr>
          <a:xfrm>
            <a:off x="7137400" y="3048000"/>
            <a:ext cx="3937000" cy="254000"/>
          </a:xfrm>
          <a:prstGeom prst="rect">
            <a:avLst/>
          </a:prstGeom>
          <a:noFill/>
        </p:spPr>
        <p:txBody>
          <a:bodyPr wrap="square" anchor="t" lIns="0" rIns="0" tIns="0" bIns="0">
            <a:spAutoFit/>
          </a:bodyPr>
          <a:lstStyle/>
          <a:p>
            <a:pPr algn="l"/>
            <a:r>
              <a:rPr sz="1500" b="0" i="1">
                <a:solidFill>
                  <a:srgbClr val="9E2B25"/>
                </a:solidFill>
                <a:latin typeface="Instrument Serif"/>
              </a:rPr>
              <a:t>Sultan IV. Mehmed'in huzurunda Müslüman oldu</a:t>
            </a:r>
          </a:p>
        </p:txBody>
      </p:sp>
      <p:sp>
        <p:nvSpPr>
          <p:cNvPr id="14" name="TextBox 13"/>
          <p:cNvSpPr txBox="1"/>
          <p:nvPr/>
        </p:nvSpPr>
        <p:spPr>
          <a:xfrm>
            <a:off x="7137400" y="3429000"/>
            <a:ext cx="3937000" cy="1397000"/>
          </a:xfrm>
          <a:prstGeom prst="rect">
            <a:avLst/>
          </a:prstGeom>
          <a:noFill/>
        </p:spPr>
        <p:txBody>
          <a:bodyPr wrap="square" anchor="t" lIns="0" rIns="0" tIns="0" bIns="0">
            <a:spAutoFit/>
          </a:bodyPr>
          <a:lstStyle/>
          <a:p>
            <a:pPr algn="l"/>
            <a:r>
              <a:rPr sz="1500" b="0" i="0">
                <a:solidFill>
                  <a:srgbClr val="241B14"/>
                </a:solidFill>
                <a:latin typeface="Archivo"/>
              </a:rPr>
              <a:t>Takipçilerinin çoğu hayal kırıklığına uğrayıp ayrıldı. Bir kısmı ise bunu “mesihin gizli görevi” sayıp onunla birlikte Müslüman oldu.</a:t>
            </a:r>
          </a:p>
        </p:txBody>
      </p:sp>
      <p:sp>
        <p:nvSpPr>
          <p:cNvPr id="15" name="Right Arrow 14"/>
          <p:cNvSpPr/>
          <p:nvPr/>
        </p:nvSpPr>
        <p:spPr>
          <a:xfrm>
            <a:off x="5537200" y="3365500"/>
            <a:ext cx="1016000" cy="381000"/>
          </a:xfrm>
          <a:prstGeom prst="rightArrow">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55000" y="-254000"/>
            <a:ext cx="3556000" cy="4826000"/>
          </a:xfrm>
          <a:prstGeom prst="rect">
            <a:avLst/>
          </a:prstGeom>
          <a:noFill/>
        </p:spPr>
        <p:txBody>
          <a:bodyPr wrap="square" anchor="t" lIns="0" rIns="0" tIns="0" bIns="0">
            <a:spAutoFit/>
          </a:bodyPr>
          <a:lstStyle/>
          <a:p>
            <a:pPr algn="l"/>
            <a:r>
              <a:rPr sz="38080" b="0" i="1">
                <a:solidFill>
                  <a:srgbClr val="E6D3BE"/>
                </a:solidFill>
                <a:latin typeface="Instrument Serif"/>
              </a:rPr>
              <a:t>?</a:t>
            </a:r>
          </a:p>
        </p:txBody>
      </p:sp>
      <p:sp>
        <p:nvSpPr>
          <p:cNvPr id="4" name="TextBox 3"/>
          <p:cNvSpPr txBox="1"/>
          <p:nvPr/>
        </p:nvSpPr>
        <p:spPr>
          <a:xfrm>
            <a:off x="889000" y="889000"/>
            <a:ext cx="5080000" cy="190500"/>
          </a:xfrm>
          <a:prstGeom prst="rect">
            <a:avLst/>
          </a:prstGeom>
          <a:noFill/>
        </p:spPr>
        <p:txBody>
          <a:bodyPr wrap="square" anchor="t" lIns="0" rIns="0" tIns="0" bIns="0">
            <a:spAutoFit/>
          </a:bodyPr>
          <a:lstStyle/>
          <a:p>
            <a:pPr algn="l"/>
            <a:r>
              <a:rPr sz="1420" b="0" i="0">
                <a:solidFill>
                  <a:srgbClr val="1F6F6A"/>
                </a:solidFill>
                <a:latin typeface="DM Mono"/>
              </a:rPr>
              <a:t>SINIFA SORU </a:t>
            </a:r>
            <a:r>
              <a:rPr sz="1420" b="0" i="0">
                <a:solidFill>
                  <a:srgbClr val="9E2B25"/>
                </a:solidFill>
                <a:latin typeface="DM Mono"/>
              </a:rPr>
              <a:t>1 / 3</a:t>
            </a:r>
          </a:p>
        </p:txBody>
      </p:sp>
      <p:sp>
        <p:nvSpPr>
          <p:cNvPr id="5" name="TextBox 4"/>
          <p:cNvSpPr txBox="1"/>
          <p:nvPr/>
        </p:nvSpPr>
        <p:spPr>
          <a:xfrm>
            <a:off x="889000" y="1651000"/>
            <a:ext cx="8509000" cy="2667000"/>
          </a:xfrm>
          <a:prstGeom prst="rect">
            <a:avLst/>
          </a:prstGeom>
          <a:noFill/>
        </p:spPr>
        <p:txBody>
          <a:bodyPr wrap="square" anchor="t" lIns="0" rIns="0" tIns="0" bIns="0">
            <a:spAutoFit/>
          </a:bodyPr>
          <a:lstStyle/>
          <a:p>
            <a:pPr algn="l"/>
            <a:r>
              <a:rPr sz="4220" b="0" i="1">
                <a:solidFill>
                  <a:srgbClr val="241B14"/>
                </a:solidFill>
                <a:latin typeface="Instrument Serif"/>
              </a:rPr>
              <a:t>Lideri din değiştirdiğinde, takipçilerinin bir kısmı neden </a:t>
            </a:r>
            <a:r>
              <a:rPr sz="4220" b="0" i="1">
                <a:solidFill>
                  <a:srgbClr val="9E2B25"/>
                </a:solidFill>
                <a:latin typeface="Instrument Serif"/>
              </a:rPr>
              <a:t>ona inanmaya devam etti?</a:t>
            </a:r>
          </a:p>
        </p:txBody>
      </p:sp>
      <p:sp>
        <p:nvSpPr>
          <p:cNvPr id="6" name="Rectangle 5"/>
          <p:cNvSpPr/>
          <p:nvPr/>
        </p:nvSpPr>
        <p:spPr>
          <a:xfrm>
            <a:off x="889000" y="5207000"/>
            <a:ext cx="8128000" cy="698500"/>
          </a:xfrm>
          <a:prstGeom prst="rect">
            <a:avLst/>
          </a:prstGeom>
          <a:solidFill>
            <a:srgbClr val="E8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9000" y="5207000"/>
            <a:ext cx="38100" cy="6985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7600" y="5334000"/>
            <a:ext cx="7747000" cy="508000"/>
          </a:xfrm>
          <a:prstGeom prst="rect">
            <a:avLst/>
          </a:prstGeom>
          <a:noFill/>
        </p:spPr>
        <p:txBody>
          <a:bodyPr wrap="square" anchor="ctr" lIns="0" rIns="0" tIns="0" bIns="0">
            <a:spAutoFit/>
          </a:bodyPr>
          <a:lstStyle/>
          <a:p>
            <a:pPr algn="l"/>
            <a:r>
              <a:rPr sz="1500" b="0" i="0">
                <a:solidFill>
                  <a:srgbClr val="241B14"/>
                </a:solidFill>
                <a:latin typeface="Archivo"/>
              </a:rPr>
              <a:t>Düşünün: büyük bir hayal kırıklığından sonra insanlar inançlarını nasıl yeniden yorumlar?</a:t>
            </a:r>
          </a:p>
        </p:txBody>
      </p:sp>
      <p:sp>
        <p:nvSpPr>
          <p:cNvPr id="9" name="Oval 8"/>
          <p:cNvSpPr/>
          <p:nvPr/>
        </p:nvSpPr>
        <p:spPr>
          <a:xfrm>
            <a:off x="10033000" y="5048250"/>
            <a:ext cx="1016000" cy="1016000"/>
          </a:xfrm>
          <a:prstGeom prst="ellipse">
            <a:avLst/>
          </a:prstGeom>
          <a:solidFill>
            <a:srgbClr val="EFE4D2"/>
          </a:solidFill>
          <a:ln w="508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0" y="5334000"/>
            <a:ext cx="1016000" cy="444500"/>
          </a:xfrm>
          <a:prstGeom prst="rect">
            <a:avLst/>
          </a:prstGeom>
          <a:noFill/>
        </p:spPr>
        <p:txBody>
          <a:bodyPr wrap="square" anchor="ctr" lIns="0" rIns="0" tIns="0" bIns="0">
            <a:spAutoFit/>
          </a:bodyPr>
          <a:lstStyle/>
          <a:p>
            <a:pPr algn="ctr"/>
            <a:r>
              <a:rPr sz="2720" b="1" i="0">
                <a:solidFill>
                  <a:srgbClr val="241B14"/>
                </a:solidFill>
                <a:latin typeface="Archivo"/>
              </a:rPr>
              <a:t>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17.–19. YÜZYIL · SELANİK</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Dışarıda Müslüman, içeride </a:t>
            </a:r>
            <a:r>
              <a:rPr sz="3670" b="0" i="1">
                <a:solidFill>
                  <a:srgbClr val="1F6F6A"/>
                </a:solidFill>
                <a:latin typeface="Instrument Serif"/>
              </a:rPr>
              <a:t>ayrı bir cemaat</a:t>
            </a:r>
          </a:p>
        </p:txBody>
      </p:sp>
      <p:cxnSp>
        <p:nvCxnSpPr>
          <p:cNvPr id="5" name="Connector 4"/>
          <p:cNvCxnSpPr/>
          <p:nvPr/>
        </p:nvCxnSpPr>
        <p:spPr>
          <a:xfrm flipH="1">
            <a:off x="1905000" y="3175000"/>
            <a:ext cx="1714500" cy="1270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19500" y="3175000"/>
            <a:ext cx="0" cy="1270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619500" y="3175000"/>
            <a:ext cx="1714500" cy="1270000"/>
          </a:xfrm>
          <a:prstGeom prst="line">
            <a:avLst/>
          </a:prstGeom>
          <a:ln w="25400">
            <a:solidFill>
              <a:srgbClr val="C98F86"/>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984500" y="2032000"/>
            <a:ext cx="1270000" cy="1270000"/>
          </a:xfrm>
          <a:prstGeom prst="ellipse">
            <a:avLst/>
          </a:prstGeom>
          <a:solidFill>
            <a:srgbClr val="FBF5EA"/>
          </a:solidFill>
          <a:ln w="254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4500" y="2444750"/>
            <a:ext cx="1270000" cy="254000"/>
          </a:xfrm>
          <a:prstGeom prst="rect">
            <a:avLst/>
          </a:prstGeom>
          <a:noFill/>
        </p:spPr>
        <p:txBody>
          <a:bodyPr wrap="square" anchor="t" lIns="0" rIns="0" tIns="0" bIns="0">
            <a:spAutoFit/>
          </a:bodyPr>
          <a:lstStyle/>
          <a:p>
            <a:pPr algn="ctr"/>
            <a:r>
              <a:rPr sz="1500" b="1" i="0">
                <a:solidFill>
                  <a:srgbClr val="241B14"/>
                </a:solidFill>
                <a:latin typeface="Archivo"/>
              </a:rPr>
              <a:t>Sabetaycılar</a:t>
            </a:r>
          </a:p>
        </p:txBody>
      </p:sp>
      <p:sp>
        <p:nvSpPr>
          <p:cNvPr id="10" name="TextBox 9"/>
          <p:cNvSpPr txBox="1"/>
          <p:nvPr/>
        </p:nvSpPr>
        <p:spPr>
          <a:xfrm>
            <a:off x="2984500" y="2698750"/>
            <a:ext cx="1270000" cy="190500"/>
          </a:xfrm>
          <a:prstGeom prst="rect">
            <a:avLst/>
          </a:prstGeom>
          <a:noFill/>
        </p:spPr>
        <p:txBody>
          <a:bodyPr wrap="square" anchor="t" lIns="0" rIns="0" tIns="0" bIns="0">
            <a:spAutoFit/>
          </a:bodyPr>
          <a:lstStyle/>
          <a:p>
            <a:pPr algn="ctr"/>
            <a:r>
              <a:rPr sz="1019" b="0" i="0">
                <a:solidFill>
                  <a:srgbClr val="7A6A58"/>
                </a:solidFill>
                <a:latin typeface="Archivo"/>
              </a:rPr>
              <a:t>Selanik</a:t>
            </a:r>
          </a:p>
        </p:txBody>
      </p:sp>
      <p:sp>
        <p:nvSpPr>
          <p:cNvPr id="11" name="Oval 10"/>
          <p:cNvSpPr/>
          <p:nvPr/>
        </p:nvSpPr>
        <p:spPr>
          <a:xfrm>
            <a:off x="1371600" y="4356100"/>
            <a:ext cx="1066800" cy="1066800"/>
          </a:xfrm>
          <a:prstGeom prst="ellipse">
            <a:avLst/>
          </a:prstGeom>
          <a:solidFill>
            <a:srgbClr val="FBF5EA"/>
          </a:solidFill>
          <a:ln w="25400">
            <a:solidFill>
              <a:srgbClr val="1F6F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730750"/>
            <a:ext cx="1066800" cy="317500"/>
          </a:xfrm>
          <a:prstGeom prst="rect">
            <a:avLst/>
          </a:prstGeom>
          <a:noFill/>
        </p:spPr>
        <p:txBody>
          <a:bodyPr wrap="square" anchor="ctr" lIns="0" rIns="0" tIns="0" bIns="0">
            <a:spAutoFit/>
          </a:bodyPr>
          <a:lstStyle/>
          <a:p>
            <a:pPr algn="ctr"/>
            <a:r>
              <a:rPr sz="1360" b="1" i="0">
                <a:solidFill>
                  <a:srgbClr val="241B14"/>
                </a:solidFill>
                <a:latin typeface="Archivo"/>
              </a:rPr>
              <a:t>Yakubîler</a:t>
            </a:r>
          </a:p>
        </p:txBody>
      </p:sp>
      <p:sp>
        <p:nvSpPr>
          <p:cNvPr id="13" name="Oval 12"/>
          <p:cNvSpPr/>
          <p:nvPr/>
        </p:nvSpPr>
        <p:spPr>
          <a:xfrm>
            <a:off x="3086100" y="4356100"/>
            <a:ext cx="1066800" cy="1066800"/>
          </a:xfrm>
          <a:prstGeom prst="ellipse">
            <a:avLst/>
          </a:prstGeom>
          <a:solidFill>
            <a:srgbClr val="FBF5EA"/>
          </a:solidFill>
          <a:ln w="25400">
            <a:solidFill>
              <a:srgbClr val="1F6F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86100" y="4730750"/>
            <a:ext cx="1066800" cy="317500"/>
          </a:xfrm>
          <a:prstGeom prst="rect">
            <a:avLst/>
          </a:prstGeom>
          <a:noFill/>
        </p:spPr>
        <p:txBody>
          <a:bodyPr wrap="square" anchor="ctr" lIns="0" rIns="0" tIns="0" bIns="0">
            <a:spAutoFit/>
          </a:bodyPr>
          <a:lstStyle/>
          <a:p>
            <a:pPr algn="ctr"/>
            <a:r>
              <a:rPr sz="1360" b="1" i="0">
                <a:solidFill>
                  <a:srgbClr val="241B14"/>
                </a:solidFill>
                <a:latin typeface="Archivo"/>
              </a:rPr>
              <a:t>Karakaşlar</a:t>
            </a:r>
          </a:p>
        </p:txBody>
      </p:sp>
      <p:sp>
        <p:nvSpPr>
          <p:cNvPr id="15" name="Oval 14"/>
          <p:cNvSpPr/>
          <p:nvPr/>
        </p:nvSpPr>
        <p:spPr>
          <a:xfrm>
            <a:off x="4800600" y="4356100"/>
            <a:ext cx="1066800" cy="1066800"/>
          </a:xfrm>
          <a:prstGeom prst="ellipse">
            <a:avLst/>
          </a:prstGeom>
          <a:solidFill>
            <a:srgbClr val="FBF5EA"/>
          </a:solidFill>
          <a:ln w="25400">
            <a:solidFill>
              <a:srgbClr val="1F6F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00600" y="4730750"/>
            <a:ext cx="1066800" cy="317500"/>
          </a:xfrm>
          <a:prstGeom prst="rect">
            <a:avLst/>
          </a:prstGeom>
          <a:noFill/>
        </p:spPr>
        <p:txBody>
          <a:bodyPr wrap="square" anchor="ctr" lIns="0" rIns="0" tIns="0" bIns="0">
            <a:spAutoFit/>
          </a:bodyPr>
          <a:lstStyle/>
          <a:p>
            <a:pPr algn="ctr"/>
            <a:r>
              <a:rPr sz="1360" b="1" i="0">
                <a:solidFill>
                  <a:srgbClr val="241B14"/>
                </a:solidFill>
                <a:latin typeface="Archivo"/>
              </a:rPr>
              <a:t>Kapancılar</a:t>
            </a:r>
          </a:p>
        </p:txBody>
      </p:sp>
      <p:sp>
        <p:nvSpPr>
          <p:cNvPr id="17" name="Rounded Rectangle 16"/>
          <p:cNvSpPr/>
          <p:nvPr/>
        </p:nvSpPr>
        <p:spPr>
          <a:xfrm>
            <a:off x="6604000" y="2095500"/>
            <a:ext cx="4699000" cy="101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07200" y="2247900"/>
            <a:ext cx="4318000" cy="254000"/>
          </a:xfrm>
          <a:prstGeom prst="rect">
            <a:avLst/>
          </a:prstGeom>
          <a:noFill/>
        </p:spPr>
        <p:txBody>
          <a:bodyPr wrap="square" anchor="t" lIns="0" rIns="0" tIns="0" bIns="0">
            <a:spAutoFit/>
          </a:bodyPr>
          <a:lstStyle/>
          <a:p>
            <a:pPr algn="l"/>
            <a:r>
              <a:rPr sz="1770" b="1" i="0">
                <a:solidFill>
                  <a:srgbClr val="9E2B25"/>
                </a:solidFill>
                <a:latin typeface="Bricolage Grotesque"/>
              </a:rPr>
              <a:t>On sekiz emir</a:t>
            </a:r>
          </a:p>
        </p:txBody>
      </p:sp>
      <p:sp>
        <p:nvSpPr>
          <p:cNvPr id="19" name="TextBox 18"/>
          <p:cNvSpPr txBox="1"/>
          <p:nvPr/>
        </p:nvSpPr>
        <p:spPr>
          <a:xfrm>
            <a:off x="6807200" y="2540000"/>
            <a:ext cx="4318000" cy="508000"/>
          </a:xfrm>
          <a:prstGeom prst="rect">
            <a:avLst/>
          </a:prstGeom>
          <a:noFill/>
        </p:spPr>
        <p:txBody>
          <a:bodyPr wrap="square" anchor="t" lIns="0" rIns="0" tIns="0" bIns="0">
            <a:spAutoFit/>
          </a:bodyPr>
          <a:lstStyle/>
          <a:p>
            <a:pPr algn="l"/>
            <a:r>
              <a:rPr sz="1360" b="0" i="0">
                <a:solidFill>
                  <a:srgbClr val="241B14"/>
                </a:solidFill>
                <a:latin typeface="Archivo"/>
              </a:rPr>
              <a:t>Sabetay'a atfedilen ve topluluğun temel kurallarını oluşturan emirler.</a:t>
            </a:r>
          </a:p>
        </p:txBody>
      </p:sp>
      <p:sp>
        <p:nvSpPr>
          <p:cNvPr id="20" name="Rounded Rectangle 19"/>
          <p:cNvSpPr/>
          <p:nvPr/>
        </p:nvSpPr>
        <p:spPr>
          <a:xfrm>
            <a:off x="6604000" y="3302000"/>
            <a:ext cx="4699000" cy="101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7200" y="3454400"/>
            <a:ext cx="4318000" cy="254000"/>
          </a:xfrm>
          <a:prstGeom prst="rect">
            <a:avLst/>
          </a:prstGeom>
          <a:noFill/>
        </p:spPr>
        <p:txBody>
          <a:bodyPr wrap="square" anchor="t" lIns="0" rIns="0" tIns="0" bIns="0">
            <a:spAutoFit/>
          </a:bodyPr>
          <a:lstStyle/>
          <a:p>
            <a:pPr algn="l"/>
            <a:r>
              <a:rPr sz="1770" b="1" i="0">
                <a:solidFill>
                  <a:srgbClr val="9E2B25"/>
                </a:solidFill>
                <a:latin typeface="Bricolage Grotesque"/>
              </a:rPr>
              <a:t>İç evlilik</a:t>
            </a:r>
          </a:p>
        </p:txBody>
      </p:sp>
      <p:sp>
        <p:nvSpPr>
          <p:cNvPr id="22" name="TextBox 21"/>
          <p:cNvSpPr txBox="1"/>
          <p:nvPr/>
        </p:nvSpPr>
        <p:spPr>
          <a:xfrm>
            <a:off x="6807200" y="3746500"/>
            <a:ext cx="4318000" cy="508000"/>
          </a:xfrm>
          <a:prstGeom prst="rect">
            <a:avLst/>
          </a:prstGeom>
          <a:noFill/>
        </p:spPr>
        <p:txBody>
          <a:bodyPr wrap="square" anchor="t" lIns="0" rIns="0" tIns="0" bIns="0">
            <a:spAutoFit/>
          </a:bodyPr>
          <a:lstStyle/>
          <a:p>
            <a:pPr algn="l"/>
            <a:r>
              <a:rPr sz="1360" b="0" i="0">
                <a:solidFill>
                  <a:srgbClr val="241B14"/>
                </a:solidFill>
                <a:latin typeface="Archivo"/>
              </a:rPr>
              <a:t>Topluluk dışından evlenmemek, kimliği nesiller boyu korudu.</a:t>
            </a:r>
          </a:p>
        </p:txBody>
      </p:sp>
      <p:sp>
        <p:nvSpPr>
          <p:cNvPr id="23" name="Rounded Rectangle 22"/>
          <p:cNvSpPr/>
          <p:nvPr/>
        </p:nvSpPr>
        <p:spPr>
          <a:xfrm>
            <a:off x="6604000" y="4508500"/>
            <a:ext cx="4699000" cy="1016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07200" y="4660900"/>
            <a:ext cx="4318000" cy="254000"/>
          </a:xfrm>
          <a:prstGeom prst="rect">
            <a:avLst/>
          </a:prstGeom>
          <a:noFill/>
        </p:spPr>
        <p:txBody>
          <a:bodyPr wrap="square" anchor="t" lIns="0" rIns="0" tIns="0" bIns="0">
            <a:spAutoFit/>
          </a:bodyPr>
          <a:lstStyle/>
          <a:p>
            <a:pPr algn="l"/>
            <a:r>
              <a:rPr sz="1770" b="1" i="0">
                <a:solidFill>
                  <a:srgbClr val="9E2B25"/>
                </a:solidFill>
                <a:latin typeface="Bricolage Grotesque"/>
              </a:rPr>
              <a:t>Gizlilik</a:t>
            </a:r>
          </a:p>
        </p:txBody>
      </p:sp>
      <p:sp>
        <p:nvSpPr>
          <p:cNvPr id="25" name="TextBox 24"/>
          <p:cNvSpPr txBox="1"/>
          <p:nvPr/>
        </p:nvSpPr>
        <p:spPr>
          <a:xfrm>
            <a:off x="6807200" y="4953000"/>
            <a:ext cx="4318000" cy="508000"/>
          </a:xfrm>
          <a:prstGeom prst="rect">
            <a:avLst/>
          </a:prstGeom>
          <a:noFill/>
        </p:spPr>
        <p:txBody>
          <a:bodyPr wrap="square" anchor="t" lIns="0" rIns="0" tIns="0" bIns="0">
            <a:spAutoFit/>
          </a:bodyPr>
          <a:lstStyle/>
          <a:p>
            <a:pPr algn="l"/>
            <a:r>
              <a:rPr sz="1360" b="0" i="0">
                <a:solidFill>
                  <a:srgbClr val="241B14"/>
                </a:solidFill>
                <a:latin typeface="Archivo"/>
              </a:rPr>
              <a:t>Görünürde İslam'ın gereklerini yerine getirip kendi inançlarını aile içinde yaşattılar.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19.–20. YÜZYIL</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Selanik'ten </a:t>
            </a:r>
            <a:r>
              <a:rPr sz="3670" b="0" i="1">
                <a:solidFill>
                  <a:srgbClr val="9E2B25"/>
                </a:solidFill>
                <a:latin typeface="Instrument Serif"/>
              </a:rPr>
              <a:t>İstanbul'a</a:t>
            </a:r>
          </a:p>
        </p:txBody>
      </p:sp>
      <p:cxnSp>
        <p:nvCxnSpPr>
          <p:cNvPr id="5" name="Connector 4"/>
          <p:cNvCxnSpPr/>
          <p:nvPr/>
        </p:nvCxnSpPr>
        <p:spPr>
          <a:xfrm>
            <a:off x="889000" y="3302000"/>
            <a:ext cx="10414000" cy="0"/>
          </a:xfrm>
          <a:prstGeom prst="line">
            <a:avLst/>
          </a:prstGeom>
          <a:ln w="38100">
            <a:solidFill>
              <a:srgbClr val="C057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89000" y="2540000"/>
            <a:ext cx="3175000" cy="508000"/>
          </a:xfrm>
          <a:prstGeom prst="rect">
            <a:avLst/>
          </a:prstGeom>
          <a:noFill/>
        </p:spPr>
        <p:txBody>
          <a:bodyPr wrap="square" anchor="t" lIns="0" rIns="0" tIns="0" bIns="0">
            <a:spAutoFit/>
          </a:bodyPr>
          <a:lstStyle/>
          <a:p>
            <a:pPr algn="l"/>
            <a:r>
              <a:rPr sz="2990" b="1" i="0">
                <a:solidFill>
                  <a:srgbClr val="C0572B"/>
                </a:solidFill>
                <a:latin typeface="Bricolage Grotesque"/>
              </a:rPr>
              <a:t>1800'ler</a:t>
            </a:r>
          </a:p>
        </p:txBody>
      </p:sp>
      <p:sp>
        <p:nvSpPr>
          <p:cNvPr id="7" name="Oval 6"/>
          <p:cNvSpPr/>
          <p:nvPr/>
        </p:nvSpPr>
        <p:spPr>
          <a:xfrm>
            <a:off x="876300" y="3213100"/>
            <a:ext cx="177800" cy="177800"/>
          </a:xfrm>
          <a:prstGeom prst="ellipse">
            <a:avLst/>
          </a:prstGeom>
          <a:solidFill>
            <a:srgbClr val="EFE4D2"/>
          </a:solidFill>
          <a:ln w="38100">
            <a:solidFill>
              <a:srgbClr val="C0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9000" y="3556000"/>
            <a:ext cx="2984500" cy="279400"/>
          </a:xfrm>
          <a:prstGeom prst="rect">
            <a:avLst/>
          </a:prstGeom>
          <a:noFill/>
        </p:spPr>
        <p:txBody>
          <a:bodyPr wrap="square" anchor="t" lIns="0" rIns="0" tIns="0" bIns="0">
            <a:spAutoFit/>
          </a:bodyPr>
          <a:lstStyle/>
          <a:p>
            <a:pPr algn="l"/>
            <a:r>
              <a:rPr sz="1770" b="1" i="0">
                <a:solidFill>
                  <a:srgbClr val="241B14"/>
                </a:solidFill>
                <a:latin typeface="Bricolage Grotesque"/>
              </a:rPr>
              <a:t>Selanik'te ticaret</a:t>
            </a:r>
          </a:p>
        </p:txBody>
      </p:sp>
      <p:sp>
        <p:nvSpPr>
          <p:cNvPr id="9" name="TextBox 8"/>
          <p:cNvSpPr txBox="1"/>
          <p:nvPr/>
        </p:nvSpPr>
        <p:spPr>
          <a:xfrm>
            <a:off x="889000" y="3873500"/>
            <a:ext cx="2984500" cy="762000"/>
          </a:xfrm>
          <a:prstGeom prst="rect">
            <a:avLst/>
          </a:prstGeom>
          <a:noFill/>
        </p:spPr>
        <p:txBody>
          <a:bodyPr wrap="square" anchor="t" lIns="0" rIns="0" tIns="0" bIns="0">
            <a:spAutoFit/>
          </a:bodyPr>
          <a:lstStyle/>
          <a:p>
            <a:pPr algn="l"/>
            <a:r>
              <a:rPr sz="1360" b="0" i="0">
                <a:solidFill>
                  <a:srgbClr val="4A3C30"/>
                </a:solidFill>
                <a:latin typeface="Archivo"/>
              </a:rPr>
              <a:t>Sabetaycı aileler liman şehrinde ticaret ve zanaatte öne çıktı.</a:t>
            </a:r>
          </a:p>
        </p:txBody>
      </p:sp>
      <p:sp>
        <p:nvSpPr>
          <p:cNvPr id="10" name="TextBox 9"/>
          <p:cNvSpPr txBox="1"/>
          <p:nvPr/>
        </p:nvSpPr>
        <p:spPr>
          <a:xfrm>
            <a:off x="4318000" y="2540000"/>
            <a:ext cx="3175000" cy="508000"/>
          </a:xfrm>
          <a:prstGeom prst="rect">
            <a:avLst/>
          </a:prstGeom>
          <a:noFill/>
        </p:spPr>
        <p:txBody>
          <a:bodyPr wrap="square" anchor="t" lIns="0" rIns="0" tIns="0" bIns="0">
            <a:spAutoFit/>
          </a:bodyPr>
          <a:lstStyle/>
          <a:p>
            <a:pPr algn="l"/>
            <a:r>
              <a:rPr sz="2990" b="1" i="0">
                <a:solidFill>
                  <a:srgbClr val="C0572B"/>
                </a:solidFill>
                <a:latin typeface="Bricolage Grotesque"/>
              </a:rPr>
              <a:t>1870–80'ler</a:t>
            </a:r>
          </a:p>
        </p:txBody>
      </p:sp>
      <p:sp>
        <p:nvSpPr>
          <p:cNvPr id="11" name="Oval 10"/>
          <p:cNvSpPr/>
          <p:nvPr/>
        </p:nvSpPr>
        <p:spPr>
          <a:xfrm>
            <a:off x="4305300" y="3213100"/>
            <a:ext cx="177800" cy="177800"/>
          </a:xfrm>
          <a:prstGeom prst="ellipse">
            <a:avLst/>
          </a:prstGeom>
          <a:solidFill>
            <a:srgbClr val="EFE4D2"/>
          </a:solidFill>
          <a:ln w="38100">
            <a:solidFill>
              <a:srgbClr val="C0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18000" y="3556000"/>
            <a:ext cx="2984500" cy="279400"/>
          </a:xfrm>
          <a:prstGeom prst="rect">
            <a:avLst/>
          </a:prstGeom>
          <a:noFill/>
        </p:spPr>
        <p:txBody>
          <a:bodyPr wrap="square" anchor="t" lIns="0" rIns="0" tIns="0" bIns="0">
            <a:spAutoFit/>
          </a:bodyPr>
          <a:lstStyle/>
          <a:p>
            <a:pPr algn="l"/>
            <a:r>
              <a:rPr sz="1770" b="1" i="0">
                <a:solidFill>
                  <a:srgbClr val="241B14"/>
                </a:solidFill>
                <a:latin typeface="Bricolage Grotesque"/>
              </a:rPr>
              <a:t>Modern okullar</a:t>
            </a:r>
          </a:p>
        </p:txBody>
      </p:sp>
      <p:sp>
        <p:nvSpPr>
          <p:cNvPr id="13" name="TextBox 12"/>
          <p:cNvSpPr txBox="1"/>
          <p:nvPr/>
        </p:nvSpPr>
        <p:spPr>
          <a:xfrm>
            <a:off x="4318000" y="3873500"/>
            <a:ext cx="2984500" cy="762000"/>
          </a:xfrm>
          <a:prstGeom prst="rect">
            <a:avLst/>
          </a:prstGeom>
          <a:noFill/>
        </p:spPr>
        <p:txBody>
          <a:bodyPr wrap="square" anchor="t" lIns="0" rIns="0" tIns="0" bIns="0">
            <a:spAutoFit/>
          </a:bodyPr>
          <a:lstStyle/>
          <a:p>
            <a:pPr algn="l"/>
            <a:r>
              <a:rPr sz="1360" b="0" i="0">
                <a:solidFill>
                  <a:srgbClr val="4A3C30"/>
                </a:solidFill>
                <a:latin typeface="Archivo"/>
              </a:rPr>
              <a:t>Terakki ve Feyziye mektepleri gibi yeni usul okullar kuruldu.</a:t>
            </a:r>
          </a:p>
        </p:txBody>
      </p:sp>
      <p:sp>
        <p:nvSpPr>
          <p:cNvPr id="14" name="TextBox 13"/>
          <p:cNvSpPr txBox="1"/>
          <p:nvPr/>
        </p:nvSpPr>
        <p:spPr>
          <a:xfrm>
            <a:off x="7747000" y="2540000"/>
            <a:ext cx="3175000" cy="508000"/>
          </a:xfrm>
          <a:prstGeom prst="rect">
            <a:avLst/>
          </a:prstGeom>
          <a:noFill/>
        </p:spPr>
        <p:txBody>
          <a:bodyPr wrap="square" anchor="t" lIns="0" rIns="0" tIns="0" bIns="0">
            <a:spAutoFit/>
          </a:bodyPr>
          <a:lstStyle/>
          <a:p>
            <a:pPr algn="l"/>
            <a:r>
              <a:rPr sz="2990" b="1" i="0">
                <a:solidFill>
                  <a:srgbClr val="C0572B"/>
                </a:solidFill>
                <a:latin typeface="Bricolage Grotesque"/>
              </a:rPr>
              <a:t>1923</a:t>
            </a:r>
          </a:p>
        </p:txBody>
      </p:sp>
      <p:sp>
        <p:nvSpPr>
          <p:cNvPr id="15" name="Oval 14"/>
          <p:cNvSpPr/>
          <p:nvPr/>
        </p:nvSpPr>
        <p:spPr>
          <a:xfrm>
            <a:off x="7734300" y="3213100"/>
            <a:ext cx="177800" cy="177800"/>
          </a:xfrm>
          <a:prstGeom prst="ellipse">
            <a:avLst/>
          </a:prstGeom>
          <a:solidFill>
            <a:srgbClr val="EFE4D2"/>
          </a:solidFill>
          <a:ln w="38100">
            <a:solidFill>
              <a:srgbClr val="C0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47000" y="3556000"/>
            <a:ext cx="2984500" cy="279400"/>
          </a:xfrm>
          <a:prstGeom prst="rect">
            <a:avLst/>
          </a:prstGeom>
          <a:noFill/>
        </p:spPr>
        <p:txBody>
          <a:bodyPr wrap="square" anchor="t" lIns="0" rIns="0" tIns="0" bIns="0">
            <a:spAutoFit/>
          </a:bodyPr>
          <a:lstStyle/>
          <a:p>
            <a:pPr algn="l"/>
            <a:r>
              <a:rPr sz="1770" b="1" i="0">
                <a:solidFill>
                  <a:srgbClr val="241B14"/>
                </a:solidFill>
                <a:latin typeface="Bricolage Grotesque"/>
              </a:rPr>
              <a:t>Nüfus mübadelesi</a:t>
            </a:r>
          </a:p>
        </p:txBody>
      </p:sp>
      <p:sp>
        <p:nvSpPr>
          <p:cNvPr id="17" name="TextBox 16"/>
          <p:cNvSpPr txBox="1"/>
          <p:nvPr/>
        </p:nvSpPr>
        <p:spPr>
          <a:xfrm>
            <a:off x="7747000" y="3873500"/>
            <a:ext cx="2984500" cy="762000"/>
          </a:xfrm>
          <a:prstGeom prst="rect">
            <a:avLst/>
          </a:prstGeom>
          <a:noFill/>
        </p:spPr>
        <p:txBody>
          <a:bodyPr wrap="square" anchor="t" lIns="0" rIns="0" tIns="0" bIns="0">
            <a:spAutoFit/>
          </a:bodyPr>
          <a:lstStyle/>
          <a:p>
            <a:pPr algn="l"/>
            <a:r>
              <a:rPr sz="1360" b="0" i="0">
                <a:solidFill>
                  <a:srgbClr val="4A3C30"/>
                </a:solidFill>
                <a:latin typeface="Archivo"/>
              </a:rPr>
              <a:t>Müslüman sayıldıkları için Türkiye'ye geldiler; çoğu İstanbul'a yerleşti.</a:t>
            </a:r>
          </a:p>
        </p:txBody>
      </p:sp>
      <p:sp>
        <p:nvSpPr>
          <p:cNvPr id="18" name="Rounded Rectangle 17"/>
          <p:cNvSpPr/>
          <p:nvPr/>
        </p:nvSpPr>
        <p:spPr>
          <a:xfrm>
            <a:off x="889000" y="5080000"/>
            <a:ext cx="10414000" cy="762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5207000"/>
            <a:ext cx="9906000" cy="508000"/>
          </a:xfrm>
          <a:prstGeom prst="rect">
            <a:avLst/>
          </a:prstGeom>
          <a:noFill/>
        </p:spPr>
        <p:txBody>
          <a:bodyPr wrap="square" anchor="ctr" lIns="0" rIns="0" tIns="0" bIns="0">
            <a:spAutoFit/>
          </a:bodyPr>
          <a:lstStyle/>
          <a:p>
            <a:pPr algn="l"/>
            <a:r>
              <a:rPr sz="1500" b="1" i="0">
                <a:solidFill>
                  <a:srgbClr val="1F6F6A"/>
                </a:solidFill>
                <a:latin typeface="Archivo"/>
              </a:rPr>
              <a:t>Bugün: </a:t>
            </a:r>
            <a:r>
              <a:rPr sz="1500" b="0" i="0">
                <a:solidFill>
                  <a:srgbClr val="241B14"/>
                </a:solidFill>
                <a:latin typeface="Archivo"/>
              </a:rPr>
              <a:t>Tarihçilere göre topluluğun büyük kısmı zamanla kendine özgü geleneklerini bırakıp toplumla </a:t>
            </a:r>
            <a:r>
              <a:rPr sz="1500" b="1" i="0">
                <a:solidFill>
                  <a:srgbClr val="1F6F6A"/>
                </a:solidFill>
                <a:latin typeface="Archivo"/>
              </a:rPr>
              <a:t>kaynaştı</a:t>
            </a:r>
            <a:r>
              <a:rPr sz="1500" b="0" i="0">
                <a:solidFill>
                  <a:srgbClr val="241B14"/>
                </a:solidFill>
                <a:latin typeface="Archivo"/>
              </a:rPr>
              <a:t>; ayrı bir cemaat olarak çok küçüldü.</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55000" y="-254000"/>
            <a:ext cx="3556000" cy="4826000"/>
          </a:xfrm>
          <a:prstGeom prst="rect">
            <a:avLst/>
          </a:prstGeom>
          <a:noFill/>
        </p:spPr>
        <p:txBody>
          <a:bodyPr wrap="square" anchor="t" lIns="0" rIns="0" tIns="0" bIns="0">
            <a:spAutoFit/>
          </a:bodyPr>
          <a:lstStyle/>
          <a:p>
            <a:pPr algn="l"/>
            <a:r>
              <a:rPr sz="38080" b="0" i="1">
                <a:solidFill>
                  <a:srgbClr val="E6D3BE"/>
                </a:solidFill>
                <a:latin typeface="Instrument Serif"/>
              </a:rPr>
              <a:t>?</a:t>
            </a:r>
          </a:p>
        </p:txBody>
      </p:sp>
      <p:sp>
        <p:nvSpPr>
          <p:cNvPr id="4" name="TextBox 3"/>
          <p:cNvSpPr txBox="1"/>
          <p:nvPr/>
        </p:nvSpPr>
        <p:spPr>
          <a:xfrm>
            <a:off x="889000" y="889000"/>
            <a:ext cx="5080000" cy="190500"/>
          </a:xfrm>
          <a:prstGeom prst="rect">
            <a:avLst/>
          </a:prstGeom>
          <a:noFill/>
        </p:spPr>
        <p:txBody>
          <a:bodyPr wrap="square" anchor="t" lIns="0" rIns="0" tIns="0" bIns="0">
            <a:spAutoFit/>
          </a:bodyPr>
          <a:lstStyle/>
          <a:p>
            <a:pPr algn="l"/>
            <a:r>
              <a:rPr sz="1420" b="0" i="0">
                <a:solidFill>
                  <a:srgbClr val="1F6F6A"/>
                </a:solidFill>
                <a:latin typeface="DM Mono"/>
              </a:rPr>
              <a:t>SINIFA SORU </a:t>
            </a:r>
            <a:r>
              <a:rPr sz="1420" b="0" i="0">
                <a:solidFill>
                  <a:srgbClr val="9E2B25"/>
                </a:solidFill>
                <a:latin typeface="DM Mono"/>
              </a:rPr>
              <a:t>2 / 3</a:t>
            </a:r>
          </a:p>
        </p:txBody>
      </p:sp>
      <p:sp>
        <p:nvSpPr>
          <p:cNvPr id="5" name="TextBox 4"/>
          <p:cNvSpPr txBox="1"/>
          <p:nvPr/>
        </p:nvSpPr>
        <p:spPr>
          <a:xfrm>
            <a:off x="889000" y="1651000"/>
            <a:ext cx="8509000" cy="2667000"/>
          </a:xfrm>
          <a:prstGeom prst="rect">
            <a:avLst/>
          </a:prstGeom>
          <a:noFill/>
        </p:spPr>
        <p:txBody>
          <a:bodyPr wrap="square" anchor="t" lIns="0" rIns="0" tIns="0" bIns="0">
            <a:spAutoFit/>
          </a:bodyPr>
          <a:lstStyle/>
          <a:p>
            <a:pPr algn="l"/>
            <a:r>
              <a:rPr sz="4220" b="0" i="1">
                <a:solidFill>
                  <a:srgbClr val="241B14"/>
                </a:solidFill>
                <a:latin typeface="Instrument Serif"/>
              </a:rPr>
              <a:t>Bir topluluğun inancını </a:t>
            </a:r>
            <a:r>
              <a:rPr sz="4220" b="0" i="1">
                <a:solidFill>
                  <a:srgbClr val="1F6F6A"/>
                </a:solidFill>
                <a:latin typeface="Instrument Serif"/>
              </a:rPr>
              <a:t>gizlemek zorunda</a:t>
            </a:r>
            <a:r>
              <a:rPr sz="4220" b="0" i="1">
                <a:solidFill>
                  <a:srgbClr val="241B14"/>
                </a:solidFill>
                <a:latin typeface="Instrument Serif"/>
              </a:rPr>
              <a:t> kalması, onu ve çevresini nasıl etkiler?</a:t>
            </a:r>
          </a:p>
        </p:txBody>
      </p:sp>
      <p:sp>
        <p:nvSpPr>
          <p:cNvPr id="6" name="Rectangle 5"/>
          <p:cNvSpPr/>
          <p:nvPr/>
        </p:nvSpPr>
        <p:spPr>
          <a:xfrm>
            <a:off x="889000" y="5207000"/>
            <a:ext cx="8128000" cy="698500"/>
          </a:xfrm>
          <a:prstGeom prst="rect">
            <a:avLst/>
          </a:prstGeom>
          <a:solidFill>
            <a:srgbClr val="E8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9000" y="5207000"/>
            <a:ext cx="38100" cy="6985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7600" y="5334000"/>
            <a:ext cx="7747000" cy="508000"/>
          </a:xfrm>
          <a:prstGeom prst="rect">
            <a:avLst/>
          </a:prstGeom>
          <a:noFill/>
        </p:spPr>
        <p:txBody>
          <a:bodyPr wrap="square" anchor="ctr" lIns="0" rIns="0" tIns="0" bIns="0">
            <a:spAutoFit/>
          </a:bodyPr>
          <a:lstStyle/>
          <a:p>
            <a:pPr algn="l"/>
            <a:r>
              <a:rPr sz="1500" b="0" i="0">
                <a:solidFill>
                  <a:srgbClr val="241B14"/>
                </a:solidFill>
                <a:latin typeface="Archivo"/>
              </a:rPr>
              <a:t>Gizlilik bir topluluğu korur mu, yoksa çevresinde şüphe mi doğurur?</a:t>
            </a:r>
          </a:p>
        </p:txBody>
      </p:sp>
      <p:sp>
        <p:nvSpPr>
          <p:cNvPr id="9" name="Oval 8"/>
          <p:cNvSpPr/>
          <p:nvPr/>
        </p:nvSpPr>
        <p:spPr>
          <a:xfrm>
            <a:off x="10033000" y="5048250"/>
            <a:ext cx="1016000" cy="1016000"/>
          </a:xfrm>
          <a:prstGeom prst="ellipse">
            <a:avLst/>
          </a:prstGeom>
          <a:solidFill>
            <a:srgbClr val="EFE4D2"/>
          </a:solidFill>
          <a:ln w="508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0" y="5334000"/>
            <a:ext cx="1016000" cy="444500"/>
          </a:xfrm>
          <a:prstGeom prst="rect">
            <a:avLst/>
          </a:prstGeom>
          <a:noFill/>
        </p:spPr>
        <p:txBody>
          <a:bodyPr wrap="square" anchor="ctr" lIns="0" rIns="0" tIns="0" bIns="0">
            <a:spAutoFit/>
          </a:bodyPr>
          <a:lstStyle/>
          <a:p>
            <a:pPr algn="ctr"/>
            <a:r>
              <a:rPr sz="2720" b="1" i="0">
                <a:solidFill>
                  <a:srgbClr val="241B14"/>
                </a:solidFill>
                <a:latin typeface="Archivo"/>
              </a:rPr>
              <a:t>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DİKKAT</a:t>
            </a:r>
          </a:p>
        </p:txBody>
      </p:sp>
      <p:sp>
        <p:nvSpPr>
          <p:cNvPr id="4" name="TextBox 3"/>
          <p:cNvSpPr txBox="1"/>
          <p:nvPr/>
        </p:nvSpPr>
        <p:spPr>
          <a:xfrm>
            <a:off x="889000" y="889000"/>
            <a:ext cx="10414000" cy="762000"/>
          </a:xfrm>
          <a:prstGeom prst="rect">
            <a:avLst/>
          </a:prstGeom>
          <a:noFill/>
        </p:spPr>
        <p:txBody>
          <a:bodyPr wrap="square" anchor="t" lIns="0" rIns="0" tIns="0" bIns="0">
            <a:spAutoFit/>
          </a:bodyPr>
          <a:lstStyle/>
          <a:p>
            <a:pPr algn="l"/>
            <a:r>
              <a:rPr sz="3400" b="1" i="0">
                <a:solidFill>
                  <a:srgbClr val="241B14"/>
                </a:solidFill>
                <a:latin typeface="Bricolage Grotesque"/>
              </a:rPr>
              <a:t>Tarih mi, </a:t>
            </a:r>
            <a:r>
              <a:rPr sz="3670" b="0" i="1">
                <a:solidFill>
                  <a:srgbClr val="C0572B"/>
                </a:solidFill>
                <a:latin typeface="Instrument Serif"/>
              </a:rPr>
              <a:t>komplo teorisi</a:t>
            </a:r>
            <a:r>
              <a:rPr sz="3400" b="1" i="0">
                <a:solidFill>
                  <a:srgbClr val="241B14"/>
                </a:solidFill>
                <a:latin typeface="Bricolage Grotesque"/>
              </a:rPr>
              <a:t> mi?</a:t>
            </a:r>
          </a:p>
        </p:txBody>
      </p:sp>
      <p:sp>
        <p:nvSpPr>
          <p:cNvPr id="5" name="Rounded Rectangle 4"/>
          <p:cNvSpPr/>
          <p:nvPr/>
        </p:nvSpPr>
        <p:spPr>
          <a:xfrm>
            <a:off x="889000" y="2095500"/>
            <a:ext cx="5080000" cy="3302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68400" y="2349500"/>
            <a:ext cx="4445000" cy="152400"/>
          </a:xfrm>
          <a:prstGeom prst="rect">
            <a:avLst/>
          </a:prstGeom>
          <a:noFill/>
        </p:spPr>
        <p:txBody>
          <a:bodyPr wrap="square" anchor="t" lIns="0" rIns="0" tIns="0" bIns="0">
            <a:spAutoFit/>
          </a:bodyPr>
          <a:lstStyle/>
          <a:p>
            <a:pPr algn="l"/>
            <a:r>
              <a:rPr sz="1230" b="0" i="0">
                <a:solidFill>
                  <a:srgbClr val="C0572B"/>
                </a:solidFill>
                <a:latin typeface="DM Mono"/>
              </a:rPr>
              <a:t>YAYGIN HATA</a:t>
            </a:r>
          </a:p>
        </p:txBody>
      </p:sp>
      <p:sp>
        <p:nvSpPr>
          <p:cNvPr id="7" name="TextBox 6"/>
          <p:cNvSpPr txBox="1"/>
          <p:nvPr/>
        </p:nvSpPr>
        <p:spPr>
          <a:xfrm>
            <a:off x="1168400" y="2571750"/>
            <a:ext cx="4572000" cy="444500"/>
          </a:xfrm>
          <a:prstGeom prst="rect">
            <a:avLst/>
          </a:prstGeom>
          <a:noFill/>
        </p:spPr>
        <p:txBody>
          <a:bodyPr wrap="square" anchor="t" lIns="0" rIns="0" tIns="0" bIns="0">
            <a:spAutoFit/>
          </a:bodyPr>
          <a:lstStyle/>
          <a:p>
            <a:pPr algn="l"/>
            <a:r>
              <a:rPr sz="2450" b="1" i="0">
                <a:solidFill>
                  <a:srgbClr val="241B14"/>
                </a:solidFill>
                <a:latin typeface="Bricolage Grotesque"/>
              </a:rPr>
              <a:t>Her şeyi bir gruba bağlamak</a:t>
            </a:r>
          </a:p>
        </p:txBody>
      </p:sp>
      <p:sp>
        <p:nvSpPr>
          <p:cNvPr id="8" name="TextBox 7"/>
          <p:cNvSpPr txBox="1"/>
          <p:nvPr/>
        </p:nvSpPr>
        <p:spPr>
          <a:xfrm>
            <a:off x="1168400" y="3111500"/>
            <a:ext cx="4508500" cy="2095500"/>
          </a:xfrm>
          <a:prstGeom prst="rect">
            <a:avLst/>
          </a:prstGeom>
          <a:noFill/>
        </p:spPr>
        <p:txBody>
          <a:bodyPr wrap="square" anchor="t" lIns="0" rIns="0" tIns="0" bIns="0">
            <a:spAutoFit/>
          </a:bodyPr>
          <a:lstStyle/>
          <a:p>
            <a:pPr algn="l">
              <a:spcAft>
                <a:spcPts val="1400"/>
              </a:spcAft>
            </a:pPr>
            <a:r>
              <a:rPr sz="1500" b="0" i="0">
                <a:solidFill>
                  <a:srgbClr val="241B14"/>
                </a:solidFill>
                <a:latin typeface="Archivo"/>
              </a:rPr>
              <a:t>Sabetaycılık hakkında, pek çok olayın arkasında “gizli bir güç” olduğunu söyleyen iddialar çok yaygın.</a:t>
            </a:r>
          </a:p>
          <a:p>
            <a:pPr algn="l">
              <a:spcAft>
                <a:spcPts val="1400"/>
              </a:spcAft>
            </a:pPr>
            <a:r>
              <a:rPr sz="1500" b="0" i="0">
                <a:solidFill>
                  <a:srgbClr val="241B14"/>
                </a:solidFill>
                <a:latin typeface="Archivo"/>
              </a:rPr>
              <a:t>Bu iddiaların çoğu belgeye dayanmıyor ve bir topluluğu toptan suçluyor.</a:t>
            </a:r>
          </a:p>
        </p:txBody>
      </p:sp>
      <p:sp>
        <p:nvSpPr>
          <p:cNvPr id="9" name="Rounded Rectangle 8"/>
          <p:cNvSpPr/>
          <p:nvPr/>
        </p:nvSpPr>
        <p:spPr>
          <a:xfrm>
            <a:off x="6223000" y="2095500"/>
            <a:ext cx="5080000" cy="3302000"/>
          </a:xfrm>
          <a:prstGeom prst="roundRect">
            <a:avLst>
              <a:gd name="adj" fmla="val 4000"/>
            </a:avLst>
          </a:prstGeom>
          <a:solidFill>
            <a:srgbClr val="FBF5EA"/>
          </a:solidFill>
          <a:ln w="12700">
            <a:solidFill>
              <a:srgbClr val="D8C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2400" y="2349500"/>
            <a:ext cx="4445000" cy="152400"/>
          </a:xfrm>
          <a:prstGeom prst="rect">
            <a:avLst/>
          </a:prstGeom>
          <a:noFill/>
        </p:spPr>
        <p:txBody>
          <a:bodyPr wrap="square" anchor="t" lIns="0" rIns="0" tIns="0" bIns="0">
            <a:spAutoFit/>
          </a:bodyPr>
          <a:lstStyle/>
          <a:p>
            <a:pPr algn="l"/>
            <a:r>
              <a:rPr sz="1230" b="0" i="0">
                <a:solidFill>
                  <a:srgbClr val="1F6F6A"/>
                </a:solidFill>
                <a:latin typeface="DM Mono"/>
              </a:rPr>
              <a:t>DOĞRU YAKLAŞIM</a:t>
            </a:r>
          </a:p>
        </p:txBody>
      </p:sp>
      <p:sp>
        <p:nvSpPr>
          <p:cNvPr id="11" name="TextBox 10"/>
          <p:cNvSpPr txBox="1"/>
          <p:nvPr/>
        </p:nvSpPr>
        <p:spPr>
          <a:xfrm>
            <a:off x="6502400" y="2571750"/>
            <a:ext cx="4572000" cy="444500"/>
          </a:xfrm>
          <a:prstGeom prst="rect">
            <a:avLst/>
          </a:prstGeom>
          <a:noFill/>
        </p:spPr>
        <p:txBody>
          <a:bodyPr wrap="square" anchor="t" lIns="0" rIns="0" tIns="0" bIns="0">
            <a:spAutoFit/>
          </a:bodyPr>
          <a:lstStyle/>
          <a:p>
            <a:pPr algn="l"/>
            <a:r>
              <a:rPr sz="2450" b="1" i="0">
                <a:solidFill>
                  <a:srgbClr val="241B14"/>
                </a:solidFill>
                <a:latin typeface="Bricolage Grotesque"/>
              </a:rPr>
              <a:t>Kanıta bakmak</a:t>
            </a:r>
          </a:p>
        </p:txBody>
      </p:sp>
      <p:sp>
        <p:nvSpPr>
          <p:cNvPr id="12" name="TextBox 11"/>
          <p:cNvSpPr txBox="1"/>
          <p:nvPr/>
        </p:nvSpPr>
        <p:spPr>
          <a:xfrm>
            <a:off x="6502400" y="3111500"/>
            <a:ext cx="4508500" cy="2095500"/>
          </a:xfrm>
          <a:prstGeom prst="rect">
            <a:avLst/>
          </a:prstGeom>
          <a:noFill/>
        </p:spPr>
        <p:txBody>
          <a:bodyPr wrap="square" anchor="t" lIns="0" rIns="0" tIns="0" bIns="0">
            <a:spAutoFit/>
          </a:bodyPr>
          <a:lstStyle/>
          <a:p>
            <a:pPr algn="l">
              <a:spcAft>
                <a:spcPts val="1400"/>
              </a:spcAft>
            </a:pPr>
            <a:r>
              <a:rPr sz="1500" b="0" i="0">
                <a:solidFill>
                  <a:srgbClr val="241B14"/>
                </a:solidFill>
                <a:latin typeface="Archivo"/>
              </a:rPr>
              <a:t>Tarihçiler arşiv belgelerine ve güvenilir kaynaklara dayanır; iddiaları kanıtla sınar.</a:t>
            </a:r>
          </a:p>
          <a:p>
            <a:pPr algn="l">
              <a:spcAft>
                <a:spcPts val="1400"/>
              </a:spcAft>
            </a:pPr>
            <a:r>
              <a:rPr sz="1500" b="0" i="0">
                <a:solidFill>
                  <a:srgbClr val="241B14"/>
                </a:solidFill>
                <a:latin typeface="Archivo"/>
              </a:rPr>
              <a:t>Ders kitabımızın hedefi de bu: hurafeden korunmak ve tüm inançlara saygı göstermek.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55000" y="-254000"/>
            <a:ext cx="3556000" cy="4826000"/>
          </a:xfrm>
          <a:prstGeom prst="rect">
            <a:avLst/>
          </a:prstGeom>
          <a:noFill/>
        </p:spPr>
        <p:txBody>
          <a:bodyPr wrap="square" anchor="t" lIns="0" rIns="0" tIns="0" bIns="0">
            <a:spAutoFit/>
          </a:bodyPr>
          <a:lstStyle/>
          <a:p>
            <a:pPr algn="l"/>
            <a:r>
              <a:rPr sz="38080" b="0" i="1">
                <a:solidFill>
                  <a:srgbClr val="E6D3BE"/>
                </a:solidFill>
                <a:latin typeface="Instrument Serif"/>
              </a:rPr>
              <a:t>?</a:t>
            </a:r>
          </a:p>
        </p:txBody>
      </p:sp>
      <p:sp>
        <p:nvSpPr>
          <p:cNvPr id="4" name="TextBox 3"/>
          <p:cNvSpPr txBox="1"/>
          <p:nvPr/>
        </p:nvSpPr>
        <p:spPr>
          <a:xfrm>
            <a:off x="889000" y="889000"/>
            <a:ext cx="5080000" cy="190500"/>
          </a:xfrm>
          <a:prstGeom prst="rect">
            <a:avLst/>
          </a:prstGeom>
          <a:noFill/>
        </p:spPr>
        <p:txBody>
          <a:bodyPr wrap="square" anchor="t" lIns="0" rIns="0" tIns="0" bIns="0">
            <a:spAutoFit/>
          </a:bodyPr>
          <a:lstStyle/>
          <a:p>
            <a:pPr algn="l"/>
            <a:r>
              <a:rPr sz="1420" b="0" i="0">
                <a:solidFill>
                  <a:srgbClr val="1F6F6A"/>
                </a:solidFill>
                <a:latin typeface="DM Mono"/>
              </a:rPr>
              <a:t>SINIFA SORU </a:t>
            </a:r>
            <a:r>
              <a:rPr sz="1420" b="0" i="0">
                <a:solidFill>
                  <a:srgbClr val="9E2B25"/>
                </a:solidFill>
                <a:latin typeface="DM Mono"/>
              </a:rPr>
              <a:t>3 / 3</a:t>
            </a:r>
          </a:p>
        </p:txBody>
      </p:sp>
      <p:sp>
        <p:nvSpPr>
          <p:cNvPr id="5" name="TextBox 4"/>
          <p:cNvSpPr txBox="1"/>
          <p:nvPr/>
        </p:nvSpPr>
        <p:spPr>
          <a:xfrm>
            <a:off x="889000" y="1651000"/>
            <a:ext cx="8509000" cy="2667000"/>
          </a:xfrm>
          <a:prstGeom prst="rect">
            <a:avLst/>
          </a:prstGeom>
          <a:noFill/>
        </p:spPr>
        <p:txBody>
          <a:bodyPr wrap="square" anchor="t" lIns="0" rIns="0" tIns="0" bIns="0">
            <a:spAutoFit/>
          </a:bodyPr>
          <a:lstStyle/>
          <a:p>
            <a:pPr algn="l"/>
            <a:r>
              <a:rPr sz="4220" b="0" i="1">
                <a:solidFill>
                  <a:srgbClr val="241B14"/>
                </a:solidFill>
                <a:latin typeface="Instrument Serif"/>
              </a:rPr>
              <a:t>İnternette okuduğumuz bir iddianın </a:t>
            </a:r>
            <a:r>
              <a:rPr sz="4220" b="0" i="1">
                <a:solidFill>
                  <a:srgbClr val="C0572B"/>
                </a:solidFill>
                <a:latin typeface="Instrument Serif"/>
              </a:rPr>
              <a:t>komplo teorisi</a:t>
            </a:r>
            <a:r>
              <a:rPr sz="4220" b="0" i="1">
                <a:solidFill>
                  <a:srgbClr val="241B14"/>
                </a:solidFill>
                <a:latin typeface="Instrument Serif"/>
              </a:rPr>
              <a:t> mi, gerçek mi olduğunu nasıl anlarız?</a:t>
            </a:r>
          </a:p>
        </p:txBody>
      </p:sp>
      <p:sp>
        <p:nvSpPr>
          <p:cNvPr id="6" name="Rectangle 5"/>
          <p:cNvSpPr/>
          <p:nvPr/>
        </p:nvSpPr>
        <p:spPr>
          <a:xfrm>
            <a:off x="889000" y="5207000"/>
            <a:ext cx="8128000" cy="698500"/>
          </a:xfrm>
          <a:prstGeom prst="rect">
            <a:avLst/>
          </a:prstGeom>
          <a:solidFill>
            <a:srgbClr val="E8D6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9000" y="5207000"/>
            <a:ext cx="38100" cy="698500"/>
          </a:xfrm>
          <a:prstGeom prst="rect">
            <a:avLst/>
          </a:prstGeom>
          <a:solidFill>
            <a:srgbClr val="9E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7600" y="5334000"/>
            <a:ext cx="7747000" cy="508000"/>
          </a:xfrm>
          <a:prstGeom prst="rect">
            <a:avLst/>
          </a:prstGeom>
          <a:noFill/>
        </p:spPr>
        <p:txBody>
          <a:bodyPr wrap="square" anchor="ctr" lIns="0" rIns="0" tIns="0" bIns="0">
            <a:spAutoFit/>
          </a:bodyPr>
          <a:lstStyle/>
          <a:p>
            <a:pPr algn="l"/>
            <a:r>
              <a:rPr sz="1500" b="0" i="0">
                <a:solidFill>
                  <a:srgbClr val="241B14"/>
                </a:solidFill>
                <a:latin typeface="Archivo"/>
              </a:rPr>
              <a:t>Kaynağı kim? Kanıtı var mı? Başka kaynaklar doğruluyor mu? Bir grubu toptan suçluyor mu?</a:t>
            </a:r>
          </a:p>
        </p:txBody>
      </p:sp>
      <p:sp>
        <p:nvSpPr>
          <p:cNvPr id="9" name="Oval 8"/>
          <p:cNvSpPr/>
          <p:nvPr/>
        </p:nvSpPr>
        <p:spPr>
          <a:xfrm>
            <a:off x="10033000" y="5048250"/>
            <a:ext cx="1016000" cy="1016000"/>
          </a:xfrm>
          <a:prstGeom prst="ellipse">
            <a:avLst/>
          </a:prstGeom>
          <a:solidFill>
            <a:srgbClr val="EFE4D2"/>
          </a:solidFill>
          <a:ln w="50800">
            <a:solidFill>
              <a:srgbClr val="9E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0" y="5334000"/>
            <a:ext cx="1016000" cy="444500"/>
          </a:xfrm>
          <a:prstGeom prst="rect">
            <a:avLst/>
          </a:prstGeom>
          <a:noFill/>
        </p:spPr>
        <p:txBody>
          <a:bodyPr wrap="square" anchor="ctr" lIns="0" rIns="0" tIns="0" bIns="0">
            <a:spAutoFit/>
          </a:bodyPr>
          <a:lstStyle/>
          <a:p>
            <a:pPr algn="ctr"/>
            <a:r>
              <a:rPr sz="2720" b="1" i="0">
                <a:solidFill>
                  <a:srgbClr val="241B14"/>
                </a:solidFill>
                <a:latin typeface="Archivo"/>
              </a:rPr>
              <a:t>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SONUÇ</a:t>
            </a:r>
          </a:p>
        </p:txBody>
      </p:sp>
      <p:sp>
        <p:nvSpPr>
          <p:cNvPr id="4" name="TextBox 3"/>
          <p:cNvSpPr txBox="1"/>
          <p:nvPr/>
        </p:nvSpPr>
        <p:spPr>
          <a:xfrm>
            <a:off x="889000" y="1587500"/>
            <a:ext cx="10414000" cy="2286000"/>
          </a:xfrm>
          <a:prstGeom prst="rect">
            <a:avLst/>
          </a:prstGeom>
          <a:noFill/>
        </p:spPr>
        <p:txBody>
          <a:bodyPr wrap="square" anchor="t" lIns="0" rIns="0" tIns="0" bIns="0">
            <a:spAutoFit/>
          </a:bodyPr>
          <a:lstStyle/>
          <a:p>
            <a:pPr algn="l"/>
            <a:r>
              <a:rPr sz="4490" b="0" i="1">
                <a:solidFill>
                  <a:srgbClr val="241B14"/>
                </a:solidFill>
                <a:latin typeface="Instrument Serif"/>
              </a:rPr>
              <a:t>Bir </a:t>
            </a:r>
            <a:r>
              <a:rPr sz="4490" b="0" i="1">
                <a:solidFill>
                  <a:srgbClr val="9E2B25"/>
                </a:solidFill>
                <a:latin typeface="Instrument Serif"/>
              </a:rPr>
              <a:t>mesih bekleyişi</a:t>
            </a:r>
            <a:r>
              <a:rPr sz="4490" b="0" i="1">
                <a:solidFill>
                  <a:srgbClr val="241B14"/>
                </a:solidFill>
                <a:latin typeface="Instrument Serif"/>
              </a:rPr>
              <a:t> olarak doğdu, gizli bir </a:t>
            </a:r>
            <a:r>
              <a:rPr sz="4490" b="0" i="1">
                <a:solidFill>
                  <a:srgbClr val="1F6F6A"/>
                </a:solidFill>
                <a:latin typeface="Instrument Serif"/>
              </a:rPr>
              <a:t>topluluğa</a:t>
            </a:r>
            <a:r>
              <a:rPr sz="4490" b="0" i="1">
                <a:solidFill>
                  <a:srgbClr val="241B14"/>
                </a:solidFill>
                <a:latin typeface="Instrument Serif"/>
              </a:rPr>
              <a:t> dönüştü, zamanla toplumla kaynaştı.</a:t>
            </a:r>
          </a:p>
        </p:txBody>
      </p:sp>
      <p:cxnSp>
        <p:nvCxnSpPr>
          <p:cNvPr id="5" name="Connector 4"/>
          <p:cNvCxnSpPr/>
          <p:nvPr/>
        </p:nvCxnSpPr>
        <p:spPr>
          <a:xfrm>
            <a:off x="889000" y="4826000"/>
            <a:ext cx="3302000" cy="0"/>
          </a:xfrm>
          <a:prstGeom prst="line">
            <a:avLst/>
          </a:prstGeom>
          <a:ln w="38100">
            <a:solidFill>
              <a:srgbClr val="9E2B2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89000" y="4978400"/>
            <a:ext cx="3302000" cy="279400"/>
          </a:xfrm>
          <a:prstGeom prst="rect">
            <a:avLst/>
          </a:prstGeom>
          <a:noFill/>
        </p:spPr>
        <p:txBody>
          <a:bodyPr wrap="square" anchor="t" lIns="0" rIns="0" tIns="0" bIns="0">
            <a:spAutoFit/>
          </a:bodyPr>
          <a:lstStyle/>
          <a:p>
            <a:pPr algn="l"/>
            <a:r>
              <a:rPr sz="1770" b="1" i="0">
                <a:solidFill>
                  <a:srgbClr val="241B14"/>
                </a:solidFill>
                <a:latin typeface="Bricolage Grotesque"/>
              </a:rPr>
              <a:t>Tarihsel bir hareket</a:t>
            </a:r>
          </a:p>
        </p:txBody>
      </p:sp>
      <p:sp>
        <p:nvSpPr>
          <p:cNvPr id="7" name="TextBox 6"/>
          <p:cNvSpPr txBox="1"/>
          <p:nvPr/>
        </p:nvSpPr>
        <p:spPr>
          <a:xfrm>
            <a:off x="889000" y="5270500"/>
            <a:ext cx="3302000" cy="762000"/>
          </a:xfrm>
          <a:prstGeom prst="rect">
            <a:avLst/>
          </a:prstGeom>
          <a:noFill/>
        </p:spPr>
        <p:txBody>
          <a:bodyPr wrap="square" anchor="t" lIns="0" rIns="0" tIns="0" bIns="0">
            <a:spAutoFit/>
          </a:bodyPr>
          <a:lstStyle/>
          <a:p>
            <a:pPr algn="l"/>
            <a:r>
              <a:rPr sz="1360" b="0" i="0">
                <a:solidFill>
                  <a:srgbClr val="241B14"/>
                </a:solidFill>
                <a:latin typeface="Archivo"/>
              </a:rPr>
              <a:t>17. yüzyılın mesih beklentileri ve Kabala ortamı içinde ortaya çıktı.</a:t>
            </a:r>
          </a:p>
        </p:txBody>
      </p:sp>
      <p:cxnSp>
        <p:nvCxnSpPr>
          <p:cNvPr id="8" name="Connector 7"/>
          <p:cNvCxnSpPr/>
          <p:nvPr/>
        </p:nvCxnSpPr>
        <p:spPr>
          <a:xfrm>
            <a:off x="4445000" y="4826000"/>
            <a:ext cx="3302000" cy="0"/>
          </a:xfrm>
          <a:prstGeom prst="line">
            <a:avLst/>
          </a:prstGeom>
          <a:ln w="38100">
            <a:solidFill>
              <a:srgbClr val="1F6F6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445000" y="4978400"/>
            <a:ext cx="3302000" cy="279400"/>
          </a:xfrm>
          <a:prstGeom prst="rect">
            <a:avLst/>
          </a:prstGeom>
          <a:noFill/>
        </p:spPr>
        <p:txBody>
          <a:bodyPr wrap="square" anchor="t" lIns="0" rIns="0" tIns="0" bIns="0">
            <a:spAutoFit/>
          </a:bodyPr>
          <a:lstStyle/>
          <a:p>
            <a:pPr algn="l"/>
            <a:r>
              <a:rPr sz="1770" b="1" i="0">
                <a:solidFill>
                  <a:srgbClr val="241B14"/>
                </a:solidFill>
                <a:latin typeface="Bricolage Grotesque"/>
              </a:rPr>
              <a:t>Değişen bir kimlik</a:t>
            </a:r>
          </a:p>
        </p:txBody>
      </p:sp>
      <p:sp>
        <p:nvSpPr>
          <p:cNvPr id="10" name="TextBox 9"/>
          <p:cNvSpPr txBox="1"/>
          <p:nvPr/>
        </p:nvSpPr>
        <p:spPr>
          <a:xfrm>
            <a:off x="4445000" y="5270500"/>
            <a:ext cx="3302000" cy="762000"/>
          </a:xfrm>
          <a:prstGeom prst="rect">
            <a:avLst/>
          </a:prstGeom>
          <a:noFill/>
        </p:spPr>
        <p:txBody>
          <a:bodyPr wrap="square" anchor="t" lIns="0" rIns="0" tIns="0" bIns="0">
            <a:spAutoFit/>
          </a:bodyPr>
          <a:lstStyle/>
          <a:p>
            <a:pPr algn="l"/>
            <a:r>
              <a:rPr sz="1360" b="0" i="0">
                <a:solidFill>
                  <a:srgbClr val="241B14"/>
                </a:solidFill>
                <a:latin typeface="Archivo"/>
              </a:rPr>
              <a:t>1666'dan sonra gizlilik, iç evlilik ve kendi kurallarıyla nesiller boyu sürdü.</a:t>
            </a:r>
          </a:p>
        </p:txBody>
      </p:sp>
      <p:cxnSp>
        <p:nvCxnSpPr>
          <p:cNvPr id="11" name="Connector 10"/>
          <p:cNvCxnSpPr/>
          <p:nvPr/>
        </p:nvCxnSpPr>
        <p:spPr>
          <a:xfrm>
            <a:off x="8001000" y="4826000"/>
            <a:ext cx="3302000" cy="0"/>
          </a:xfrm>
          <a:prstGeom prst="line">
            <a:avLst/>
          </a:prstGeom>
          <a:ln w="38100">
            <a:solidFill>
              <a:srgbClr val="C0572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01000" y="4978400"/>
            <a:ext cx="3302000" cy="279400"/>
          </a:xfrm>
          <a:prstGeom prst="rect">
            <a:avLst/>
          </a:prstGeom>
          <a:noFill/>
        </p:spPr>
        <p:txBody>
          <a:bodyPr wrap="square" anchor="t" lIns="0" rIns="0" tIns="0" bIns="0">
            <a:spAutoFit/>
          </a:bodyPr>
          <a:lstStyle/>
          <a:p>
            <a:pPr algn="l"/>
            <a:r>
              <a:rPr sz="1770" b="1" i="0">
                <a:solidFill>
                  <a:srgbClr val="241B14"/>
                </a:solidFill>
                <a:latin typeface="Bricolage Grotesque"/>
              </a:rPr>
              <a:t>Önyargı değil kanıt</a:t>
            </a:r>
          </a:p>
        </p:txBody>
      </p:sp>
      <p:sp>
        <p:nvSpPr>
          <p:cNvPr id="13" name="TextBox 12"/>
          <p:cNvSpPr txBox="1"/>
          <p:nvPr/>
        </p:nvSpPr>
        <p:spPr>
          <a:xfrm>
            <a:off x="8001000" y="5270500"/>
            <a:ext cx="3302000" cy="762000"/>
          </a:xfrm>
          <a:prstGeom prst="rect">
            <a:avLst/>
          </a:prstGeom>
          <a:noFill/>
        </p:spPr>
        <p:txBody>
          <a:bodyPr wrap="square" anchor="t" lIns="0" rIns="0" tIns="0" bIns="0">
            <a:spAutoFit/>
          </a:bodyPr>
          <a:lstStyle/>
          <a:p>
            <a:pPr algn="l"/>
            <a:r>
              <a:rPr sz="1360" b="0" i="0">
                <a:solidFill>
                  <a:srgbClr val="241B14"/>
                </a:solidFill>
                <a:latin typeface="Archivo"/>
              </a:rPr>
              <a:t>Hassas konulara belgeye dayanarak ve saygıyla bakmak gerekir.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FE4D2"/>
        </a:solidFill>
        <a:effectLst/>
      </p:bgPr>
    </p:bg>
    <p:spTree>
      <p:nvGrpSpPr>
        <p:cNvPr id="1" name=""/>
        <p:cNvGrpSpPr/>
        <p:nvPr/>
      </p:nvGrpSpPr>
      <p:grpSpPr/>
      <p:sp>
        <p:nvSpPr>
          <p:cNvPr id="2" name="Rounded Rectangle 1"/>
          <p:cNvSpPr/>
          <p:nvPr/>
        </p:nvSpPr>
        <p:spPr>
          <a:xfrm>
            <a:off x="215900" y="215900"/>
            <a:ext cx="11760200" cy="6426200"/>
          </a:xfrm>
          <a:prstGeom prst="roundRect">
            <a:avLst>
              <a:gd name="adj" fmla="val 600"/>
            </a:avLst>
          </a:prstGeom>
          <a:noFill/>
          <a:ln w="15240">
            <a:solidFill>
              <a:srgbClr val="D9B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89000" y="609600"/>
            <a:ext cx="9525000" cy="190500"/>
          </a:xfrm>
          <a:prstGeom prst="rect">
            <a:avLst/>
          </a:prstGeom>
          <a:noFill/>
        </p:spPr>
        <p:txBody>
          <a:bodyPr wrap="square" anchor="t" lIns="0" rIns="0" tIns="0" bIns="0">
            <a:spAutoFit/>
          </a:bodyPr>
          <a:lstStyle/>
          <a:p>
            <a:pPr algn="l"/>
            <a:r>
              <a:rPr sz="1230" b="0" i="0">
                <a:solidFill>
                  <a:srgbClr val="9E2B25"/>
                </a:solidFill>
                <a:latin typeface="DM Mono"/>
              </a:rPr>
              <a:t>KAYNAKÇA</a:t>
            </a:r>
          </a:p>
        </p:txBody>
      </p:sp>
      <p:sp>
        <p:nvSpPr>
          <p:cNvPr id="4" name="TextBox 3"/>
          <p:cNvSpPr txBox="1"/>
          <p:nvPr/>
        </p:nvSpPr>
        <p:spPr>
          <a:xfrm>
            <a:off x="889000" y="889000"/>
            <a:ext cx="6350000" cy="571500"/>
          </a:xfrm>
          <a:prstGeom prst="rect">
            <a:avLst/>
          </a:prstGeom>
          <a:noFill/>
        </p:spPr>
        <p:txBody>
          <a:bodyPr wrap="square" anchor="t" lIns="0" rIns="0" tIns="0" bIns="0">
            <a:spAutoFit/>
          </a:bodyPr>
          <a:lstStyle/>
          <a:p>
            <a:pPr algn="l"/>
            <a:r>
              <a:rPr sz="3400" b="1" i="0">
                <a:solidFill>
                  <a:srgbClr val="241B14"/>
                </a:solidFill>
                <a:latin typeface="Bricolage Grotesque"/>
              </a:rPr>
              <a:t>Kaynaklar</a:t>
            </a:r>
          </a:p>
        </p:txBody>
      </p:sp>
      <p:sp>
        <p:nvSpPr>
          <p:cNvPr id="5" name="TextBox 4"/>
          <p:cNvSpPr txBox="1"/>
          <p:nvPr/>
        </p:nvSpPr>
        <p:spPr>
          <a:xfrm>
            <a:off x="889000" y="1778000"/>
            <a:ext cx="10414000" cy="4064000"/>
          </a:xfrm>
          <a:prstGeom prst="rect">
            <a:avLst/>
          </a:prstGeom>
          <a:noFill/>
        </p:spPr>
        <p:txBody>
          <a:bodyPr wrap="square" anchor="t" lIns="0" rIns="0" tIns="0" bIns="0">
            <a:spAutoFit/>
          </a:bodyPr>
          <a:lstStyle/>
          <a:p>
            <a:pPr algn="l">
              <a:spcAft>
                <a:spcPts val="1600"/>
              </a:spcAft>
            </a:pPr>
            <a:r>
              <a:rPr sz="1420" b="0" i="0">
                <a:solidFill>
                  <a:srgbClr val="9E2B25"/>
                </a:solidFill>
                <a:latin typeface="DM Mono"/>
              </a:rPr>
              <a:t>01  </a:t>
            </a:r>
            <a:r>
              <a:rPr sz="1430" b="1" i="0">
                <a:solidFill>
                  <a:srgbClr val="241B14"/>
                </a:solidFill>
                <a:latin typeface="Archivo"/>
              </a:rPr>
              <a:t>MEB.</a:t>
            </a:r>
            <a:r>
              <a:rPr sz="1430" b="0" i="0">
                <a:solidFill>
                  <a:srgbClr val="241B14"/>
                </a:solidFill>
                <a:latin typeface="Archivo"/>
              </a:rPr>
              <a:t> Ortaöğretim Din Kültürü ve Ahlak Bilgisi 11 Ders Kitabı, 4. Ünite: İnançla İlgili Meseleler (Yeni dinî hareketler).</a:t>
            </a:r>
          </a:p>
          <a:p>
            <a:pPr algn="l">
              <a:spcAft>
                <a:spcPts val="1600"/>
              </a:spcAft>
            </a:pPr>
            <a:r>
              <a:rPr sz="1420" b="0" i="0">
                <a:solidFill>
                  <a:srgbClr val="9E2B25"/>
                </a:solidFill>
                <a:latin typeface="DM Mono"/>
              </a:rPr>
              <a:t>02  </a:t>
            </a:r>
            <a:r>
              <a:rPr sz="1430" b="1" i="0">
                <a:solidFill>
                  <a:srgbClr val="241B14"/>
                </a:solidFill>
                <a:latin typeface="Archivo"/>
              </a:rPr>
              <a:t>Scholem, Gershom.</a:t>
            </a:r>
            <a:r>
              <a:rPr sz="1430" b="0" i="0">
                <a:solidFill>
                  <a:srgbClr val="241B14"/>
                </a:solidFill>
                <a:latin typeface="Archivo"/>
              </a:rPr>
              <a:t> Sabbatai Sevi: The Mystical Messiah, 1626–1676. Princeton University Press, 1973.</a:t>
            </a:r>
          </a:p>
          <a:p>
            <a:pPr algn="l">
              <a:spcAft>
                <a:spcPts val="1600"/>
              </a:spcAft>
            </a:pPr>
            <a:r>
              <a:rPr sz="1420" b="0" i="0">
                <a:solidFill>
                  <a:srgbClr val="9E2B25"/>
                </a:solidFill>
                <a:latin typeface="DM Mono"/>
              </a:rPr>
              <a:t>03  </a:t>
            </a:r>
            <a:r>
              <a:rPr sz="1430" b="1" i="0">
                <a:solidFill>
                  <a:srgbClr val="241B14"/>
                </a:solidFill>
                <a:latin typeface="Archivo"/>
              </a:rPr>
              <a:t>Baer, Marc David.</a:t>
            </a:r>
            <a:r>
              <a:rPr sz="1430" b="0" i="0">
                <a:solidFill>
                  <a:srgbClr val="241B14"/>
                </a:solidFill>
                <a:latin typeface="Archivo"/>
              </a:rPr>
              <a:t> The Dönme: Jewish Converts, Muslim Revolutionaries, and Secular Turks. Stanford University Press, 2010.</a:t>
            </a:r>
          </a:p>
          <a:p>
            <a:pPr algn="l">
              <a:spcAft>
                <a:spcPts val="1600"/>
              </a:spcAft>
            </a:pPr>
            <a:r>
              <a:rPr sz="1420" b="0" i="0">
                <a:solidFill>
                  <a:srgbClr val="9E2B25"/>
                </a:solidFill>
                <a:latin typeface="DM Mono"/>
              </a:rPr>
              <a:t>04  </a:t>
            </a:r>
            <a:r>
              <a:rPr sz="1430" b="1" i="0">
                <a:solidFill>
                  <a:srgbClr val="241B14"/>
                </a:solidFill>
                <a:latin typeface="Archivo"/>
              </a:rPr>
              <a:t>Şişman, Cengiz.</a:t>
            </a:r>
            <a:r>
              <a:rPr sz="1430" b="0" i="0">
                <a:solidFill>
                  <a:srgbClr val="241B14"/>
                </a:solidFill>
                <a:latin typeface="Archivo"/>
              </a:rPr>
              <a:t> The Burden of Silence: Sabbatai Sevi and the Evolution of the Ottoman-Turkish Dönmes. Oxford University Press, 2015.</a:t>
            </a:r>
          </a:p>
          <a:p>
            <a:pPr algn="l">
              <a:spcAft>
                <a:spcPts val="1600"/>
              </a:spcAft>
            </a:pPr>
            <a:r>
              <a:rPr sz="1420" b="0" i="0">
                <a:solidFill>
                  <a:srgbClr val="9E2B25"/>
                </a:solidFill>
                <a:latin typeface="DM Mono"/>
              </a:rPr>
              <a:t>05  </a:t>
            </a:r>
            <a:r>
              <a:rPr sz="1430" b="1" i="0">
                <a:solidFill>
                  <a:srgbClr val="241B14"/>
                </a:solidFill>
                <a:latin typeface="Archivo"/>
              </a:rPr>
              <a:t>Lewis, Bernard.</a:t>
            </a:r>
            <a:r>
              <a:rPr sz="1430" b="0" i="0">
                <a:solidFill>
                  <a:srgbClr val="241B14"/>
                </a:solidFill>
                <a:latin typeface="Archivo"/>
              </a:rPr>
              <a:t> The Jews of Islam. Princeton University Press, 1984.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